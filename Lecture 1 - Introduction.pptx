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9"/>
  </p:notesMasterIdLst>
  <p:sldIdLst>
    <p:sldId id="256" r:id="rId2"/>
    <p:sldId id="257" r:id="rId3"/>
    <p:sldId id="258" r:id="rId4"/>
    <p:sldId id="291" r:id="rId5"/>
    <p:sldId id="292" r:id="rId6"/>
    <p:sldId id="293" r:id="rId7"/>
    <p:sldId id="294" r:id="rId8"/>
    <p:sldId id="298" r:id="rId9"/>
    <p:sldId id="287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</p:sldIdLst>
  <p:sldSz cx="12192000" cy="6858000"/>
  <p:notesSz cx="6858000" cy="9144000"/>
  <p:embeddedFontLst>
    <p:embeddedFont>
      <p:font typeface="Helvetica Neue" panose="020B0604020202020204" charset="0"/>
      <p:regular r:id="rId40"/>
      <p:bold r:id="rId41"/>
      <p:italic r:id="rId42"/>
      <p:boldItalic r:id="rId43"/>
    </p:embeddedFont>
    <p:embeddedFont>
      <p:font typeface="Open Sans" panose="020B0604020202020204" charset="0"/>
      <p:regular r:id="rId44"/>
      <p:bold r:id="rId45"/>
      <p:italic r:id="rId46"/>
      <p:boldItalic r:id="rId47"/>
    </p:embeddedFont>
    <p:embeddedFont>
      <p:font typeface="Calibri" panose="020F0502020204030204" pitchFamily="34" charset="0"/>
      <p:regular r:id="rId48"/>
      <p:bold r:id="rId49"/>
      <p:italic r:id="rId50"/>
      <p:boldItalic r:id="rId5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3" roundtripDataSignature="AMtx7mjbGwYX2aOxaRSIhkAOKtMjHWnyC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1" d="100"/>
          <a:sy n="61" d="100"/>
        </p:scale>
        <p:origin x="852" y="2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3.fntdata"/><Relationship Id="rId47" Type="http://schemas.openxmlformats.org/officeDocument/2006/relationships/font" Target="fonts/font8.fntdata"/><Relationship Id="rId50" Type="http://schemas.openxmlformats.org/officeDocument/2006/relationships/font" Target="fonts/font11.fntdata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font" Target="fonts/font1.fntdata"/><Relationship Id="rId45" Type="http://schemas.openxmlformats.org/officeDocument/2006/relationships/font" Target="fonts/font6.fntdata"/><Relationship Id="rId53" Type="http://customschemas.google.com/relationships/presentationmetadata" Target="metadata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4.fntdata"/><Relationship Id="rId48" Type="http://schemas.openxmlformats.org/officeDocument/2006/relationships/font" Target="fonts/font9.fntdata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font" Target="fonts/font12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7.fntdata"/><Relationship Id="rId20" Type="http://schemas.openxmlformats.org/officeDocument/2006/relationships/slide" Target="slides/slide19.xml"/><Relationship Id="rId41" Type="http://schemas.openxmlformats.org/officeDocument/2006/relationships/font" Target="fonts/font2.fntdata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10.fntdata"/><Relationship Id="rId5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whatis.techtarget.com/definition/input-output-I-O" TargetMode="External"/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Relationship Id="rId5" Type="http://schemas.openxmlformats.org/officeDocument/2006/relationships/hyperlink" Target="https://whatis.techtarget.com/definition/vectored-interrupt" TargetMode="External"/><Relationship Id="rId4" Type="http://schemas.openxmlformats.org/officeDocument/2006/relationships/hyperlink" Target="https://whatis.techtarget.com/definition/interrupt" TargetMode="Externa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2" name="Google Shape;10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1" name="Google Shape;11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I am going to introduce Operating System, what they are, what they do and why it’s important.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OS runs on computers, mobiles, gadget and many other devices.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Thorough OS knowledge is required to work on System Software including Compilers and Device Drivers.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Real Time OS is used in embedded systems, TVs, Car/Game Consoles.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Multiple Operating Systems: UNIX, Linux, Windows, Mac OS, Android, Solaris, HP-UX, IBM AIX, BSD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2" name="Google Shape;112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sp>
        <p:nvSpPr>
          <p:cNvPr id="248" name="Google Shape;24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9" name="Google Shape;249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190123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724bb8404b_0_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sp>
        <p:nvSpPr>
          <p:cNvPr id="258" name="Google Shape;258;g3724bb8404b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9" name="Google Shape;259;g3724bb8404b_0_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730003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sp>
        <p:nvSpPr>
          <p:cNvPr id="268" name="Google Shape;26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9" name="Google Shape;269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6255415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724bb8404b_0_3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sp>
        <p:nvSpPr>
          <p:cNvPr id="288" name="Google Shape;288;g3724bb8404b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9" name="Google Shape;289;g3724bb8404b_0_3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5650536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3724bb8404b_0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sp>
        <p:nvSpPr>
          <p:cNvPr id="310" name="Google Shape;310;g3724bb8404b_0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1" name="Google Shape;311;g3724bb8404b_0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716868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8905554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5" name="Google Shape;12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5" name="Google Shape;13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5" name="Google Shape;145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OS manages hardware, allocates resources, controls program execution and provides user program environment</a:t>
            </a:r>
            <a:endParaRPr/>
          </a:p>
        </p:txBody>
      </p:sp>
      <p:sp>
        <p:nvSpPr>
          <p:cNvPr id="146" name="Google Shape;146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5" name="Google Shape;155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OS manages hardware, allocates resources, controls program execution and provides user program environment</a:t>
            </a:r>
            <a:endParaRPr/>
          </a:p>
        </p:txBody>
      </p:sp>
      <p:sp>
        <p:nvSpPr>
          <p:cNvPr id="156" name="Google Shape;156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5" name="Google Shape;165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6" name="Google Shape;166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6" name="Google Shape;176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</a:rPr>
              <a:t>Computer system can be divided into four components: Hardware, OS, Application Programs and Users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7" name="Google Shape;177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6" name="Google Shape;186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Three conceptual pieces that are fundamental to operating systems: </a:t>
            </a:r>
            <a:r>
              <a:rPr lang="en-US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Virtualization </a:t>
            </a:r>
            <a:r>
              <a:rPr lang="en-US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(CPU scheduling, Process management, Memory management – Paging &amp; Segmentation),  </a:t>
            </a:r>
            <a:r>
              <a:rPr lang="en-US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Concurrency </a:t>
            </a:r>
            <a:r>
              <a:rPr lang="en-US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(like Threads, locks,  condition variables &amp; Semaphores), and </a:t>
            </a:r>
            <a:r>
              <a:rPr lang="en-US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Persistence </a:t>
            </a:r>
            <a:r>
              <a:rPr lang="en-US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(I/O devices, file systems, storage, data integrity/protection, Distributed Systems, NFS).</a:t>
            </a:r>
            <a:endParaRPr b="0"/>
          </a:p>
        </p:txBody>
      </p:sp>
      <p:sp>
        <p:nvSpPr>
          <p:cNvPr id="187" name="Google Shape;187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6" name="Google Shape;196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Three conceptual pieces that are fundamental to operating systems: </a:t>
            </a:r>
            <a:r>
              <a:rPr lang="en-US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Virtualization </a:t>
            </a:r>
            <a:r>
              <a:rPr lang="en-US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(CPU scheduling, Process management, Memory management – Paging &amp; Segmentation),  </a:t>
            </a:r>
            <a:r>
              <a:rPr lang="en-US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Concurrency </a:t>
            </a:r>
            <a:r>
              <a:rPr lang="en-US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(like Threads, locks,  condition variables &amp; Semaphores), and </a:t>
            </a:r>
            <a:r>
              <a:rPr lang="en-US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Persistence </a:t>
            </a:r>
            <a:r>
              <a:rPr lang="en-US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(I/O devices, file systems, storage, data integrity/protection, Distributed Systems, NFS).</a:t>
            </a:r>
            <a:endParaRPr b="0"/>
          </a:p>
        </p:txBody>
      </p:sp>
      <p:sp>
        <p:nvSpPr>
          <p:cNvPr id="197" name="Google Shape;197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6" name="Google Shape;206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1080"/>
              <a:buFont typeface="Arial"/>
              <a:buNone/>
            </a:pPr>
            <a:r>
              <a:rPr lang="en-US"/>
              <a:t>At Computer Startup, </a:t>
            </a:r>
            <a:r>
              <a:rPr lang="en-US" sz="1800" b="1" i="0" u="none" strike="noStrike" cap="none">
                <a:solidFill>
                  <a:srgbClr val="3366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bootstrap program</a:t>
            </a:r>
            <a:r>
              <a:rPr lang="en-US" sz="1800" b="0" i="0" u="none" strike="noStrike" cap="none">
                <a:solidFill>
                  <a:srgbClr val="3366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(or loader) </a:t>
            </a:r>
            <a:r>
              <a:rPr lang="en-US"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is loaded at power-up or reboot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440"/>
              <a:buFont typeface="Arial"/>
              <a:buChar char="●"/>
            </a:pPr>
            <a:r>
              <a:rPr lang="en-US"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Typically stored in ROM or EPROM, generally known as </a:t>
            </a:r>
            <a:r>
              <a:rPr lang="en-US" sz="1800" b="1" i="0" u="none" strike="noStrike" cap="none">
                <a:solidFill>
                  <a:srgbClr val="3366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firmware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440"/>
              <a:buFont typeface="Arial"/>
              <a:buChar char="●"/>
            </a:pPr>
            <a:r>
              <a:rPr lang="en-US"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Initializes all aspects of system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440"/>
              <a:buFont typeface="Arial"/>
              <a:buChar char="●"/>
            </a:pPr>
            <a:r>
              <a:rPr lang="en-US"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Loads operating system kernel and starts execution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7" name="Google Shape;207;p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6" name="Google Shape;216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1080"/>
              <a:buFont typeface="Arial"/>
              <a:buNone/>
            </a:pPr>
            <a:r>
              <a:rPr lang="en-US"/>
              <a:t>At Computer Startup, </a:t>
            </a:r>
            <a:r>
              <a:rPr lang="en-US" sz="1800" b="1" i="0" u="none" strike="noStrike" cap="none">
                <a:solidFill>
                  <a:srgbClr val="3366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bootstrap program</a:t>
            </a:r>
            <a:r>
              <a:rPr lang="en-US" sz="1800" b="0" i="0" u="none" strike="noStrike" cap="none">
                <a:solidFill>
                  <a:srgbClr val="3366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(or loader) </a:t>
            </a:r>
            <a:r>
              <a:rPr lang="en-US"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is loaded at power-up or reboot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440"/>
              <a:buFont typeface="Arial"/>
              <a:buChar char="●"/>
            </a:pPr>
            <a:r>
              <a:rPr lang="en-US"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Typically stored in ROM or EPROM, generally known as </a:t>
            </a:r>
            <a:r>
              <a:rPr lang="en-US" sz="1800" b="1" i="0" u="none" strike="noStrike" cap="none">
                <a:solidFill>
                  <a:srgbClr val="3366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firmware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440"/>
              <a:buFont typeface="Arial"/>
              <a:buChar char="●"/>
            </a:pPr>
            <a:r>
              <a:rPr lang="en-US"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Initializes all aspects of system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440"/>
              <a:buFont typeface="Arial"/>
              <a:buChar char="●"/>
            </a:pPr>
            <a:r>
              <a:rPr lang="en-US"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Loads operating system kernel and starts execution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7" name="Google Shape;217;p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27" name="Google Shape;227;p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7" name="Google Shape;237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38" name="Google Shape;238;p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9" name="Google Shape;249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50" name="Google Shape;250;p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9" name="Google Shape;259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60" name="Google Shape;260;p1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0" name="Google Shape;270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71" name="Google Shape;271;p1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1" name="Google Shape;281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b="0" i="0">
                <a:solidFill>
                  <a:srgbClr val="6C6C6C"/>
                </a:solidFill>
                <a:latin typeface="Arial"/>
                <a:ea typeface="Arial"/>
                <a:cs typeface="Arial"/>
                <a:sym typeface="Arial"/>
              </a:rPr>
              <a:t>In a computer, a polled interrupt is a specific type of</a:t>
            </a:r>
            <a:r>
              <a:rPr lang="en-US" b="0" i="0" u="sng">
                <a:solidFill>
                  <a:srgbClr val="6C6C6C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r>
              <a:rPr lang="en-US" b="0" i="0" u="sng">
                <a:solidFill>
                  <a:srgbClr val="00B3AC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val="tx"/>
                    </a:ext>
                  </a:extLst>
                </a:hlinkClick>
              </a:rPr>
              <a:t>I/O</a:t>
            </a:r>
            <a:r>
              <a:rPr lang="en-US" b="0" i="0" u="sng">
                <a:solidFill>
                  <a:srgbClr val="6C6C6C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r>
              <a:rPr lang="en-US" b="0" i="0" u="sng">
                <a:solidFill>
                  <a:srgbClr val="00B3AC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val="tx"/>
                    </a:ext>
                  </a:extLst>
                </a:hlinkClick>
              </a:rPr>
              <a:t>interrupt</a:t>
            </a:r>
            <a:r>
              <a:rPr lang="en-US" b="0" i="0" u="sng">
                <a:solidFill>
                  <a:srgbClr val="6C6C6C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r>
              <a:rPr lang="en-US" b="0" i="0">
                <a:solidFill>
                  <a:srgbClr val="6C6C6C"/>
                </a:solidFill>
                <a:latin typeface="Arial"/>
                <a:ea typeface="Arial"/>
                <a:cs typeface="Arial"/>
                <a:sym typeface="Arial"/>
              </a:rPr>
              <a:t>that notifies the part of the computer containing the I/O interface that a device is ready to be read or otherwise handled but does not indicate which device. The interrupt controller must poll (send a signal out to) each device to determine which one made the request. </a:t>
            </a:r>
            <a:r>
              <a:rPr lang="en-US" b="0" i="0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Polled interrupt is an inefficient method of data transfer, spending much time checking the ready condition of a computer's devices.</a:t>
            </a:r>
            <a:endParaRPr b="0" i="0">
              <a:solidFill>
                <a:srgbClr val="6C6C6C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b="0" i="0">
                <a:solidFill>
                  <a:srgbClr val="6C6C6C"/>
                </a:solidFill>
                <a:latin typeface="Arial"/>
                <a:ea typeface="Arial"/>
                <a:cs typeface="Arial"/>
                <a:sym typeface="Arial"/>
              </a:rPr>
              <a:t>The alternative to a polled interrupt is a </a:t>
            </a:r>
            <a:r>
              <a:rPr lang="en-US" b="0" i="0" u="sng">
                <a:solidFill>
                  <a:srgbClr val="00B3AC"/>
                </a:solidFill>
                <a:latin typeface="Arial"/>
                <a:ea typeface="Arial"/>
                <a:cs typeface="Arial"/>
                <a:sym typeface="Arial"/>
                <a:hlinkClick r:id="rId5">
                  <a:extLst>
                    <a:ext uri="{A12FA001-AC4F-418D-AE19-62706E023703}">
                      <ahyp:hlinkClr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val="tx"/>
                    </a:ext>
                  </a:extLst>
                </a:hlinkClick>
              </a:rPr>
              <a:t>vectored interrupt</a:t>
            </a:r>
            <a:r>
              <a:rPr lang="en-US" b="0" i="0" u="sng">
                <a:solidFill>
                  <a:srgbClr val="6C6C6C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r>
              <a:rPr lang="en-US" b="0" i="0">
                <a:solidFill>
                  <a:srgbClr val="6C6C6C"/>
                </a:solidFill>
                <a:latin typeface="Arial"/>
                <a:ea typeface="Arial"/>
                <a:cs typeface="Arial"/>
                <a:sym typeface="Arial"/>
              </a:rPr>
              <a:t>, an interrupt signal that includes the identity of the device sending the interrupt signal.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82" name="Google Shape;282;p2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2" name="Google Shape;292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93" name="Google Shape;293;p2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2" name="Google Shape;312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13" name="Google Shape;313;p2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2" name="Google Shape;322;p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b="0"/>
          </a:p>
        </p:txBody>
      </p:sp>
      <p:sp>
        <p:nvSpPr>
          <p:cNvPr id="323" name="Google Shape;323;p2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28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5" name="Google Shape;335;p2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36" name="Google Shape;336;p2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29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5" name="Google Shape;345;p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46" name="Google Shape;346;p2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30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5" name="Google Shape;355;p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56" name="Google Shape;356;p2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31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6" name="Google Shape;366;p2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67" name="Google Shape;367;p2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32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6" name="Google Shape;376;p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77" name="Google Shape;377;p2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33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7" name="Google Shape;387;p2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88" name="Google Shape;388;p2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34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97" name="Google Shape;397;p3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98" name="Google Shape;398;p3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35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07" name="Google Shape;407;p3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08" name="Google Shape;408;p3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36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3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18" name="Google Shape;418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" name="Google Shape;18;p3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5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5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4" name="Google Shape;24;p3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3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6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36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3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3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3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3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37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3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3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3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8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38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38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38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38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3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3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3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3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3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3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4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4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4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4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41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41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4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4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4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4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42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42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4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4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4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4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43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4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4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4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44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44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4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4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4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1_Title and Content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8" name="Google Shape;98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9" name="Google Shape;99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0" name="Google Shape;100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1" name="Google Shape;101;p29"/>
          <p:cNvSpPr txBox="1"/>
          <p:nvPr/>
        </p:nvSpPr>
        <p:spPr>
          <a:xfrm>
            <a:off x="3047260" y="3246553"/>
            <a:ext cx="60945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0304824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3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3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3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3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/>
          <p:nvPr/>
        </p:nvSpPr>
        <p:spPr>
          <a:xfrm>
            <a:off x="4781916" y="1688267"/>
            <a:ext cx="7497214" cy="10925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1" i="0" u="none" strike="noStrike" cap="none" dirty="0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OPERATING SYSTEMS 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>
              <a:buSzPts val="2900"/>
            </a:pPr>
            <a:r>
              <a:rPr lang="en-US" sz="2900" b="1" dirty="0" smtClean="0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UE25CS242A</a:t>
            </a:r>
            <a:endParaRPr sz="2900" b="1" i="0" u="none" strike="noStrike" cap="none" dirty="0">
              <a:solidFill>
                <a:srgbClr val="C55A1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"/>
          <p:cNvSpPr/>
          <p:nvPr/>
        </p:nvSpPr>
        <p:spPr>
          <a:xfrm>
            <a:off x="4781916" y="2841955"/>
            <a:ext cx="6664609" cy="1200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1" i="0" u="none" strike="noStrike" cap="none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Introduction, Computer System Organization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"/>
          <p:cNvSpPr/>
          <p:nvPr/>
        </p:nvSpPr>
        <p:spPr>
          <a:xfrm>
            <a:off x="4781916" y="4327370"/>
            <a:ext cx="7497214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buSzPts val="2400"/>
            </a:pPr>
            <a:r>
              <a:rPr lang="en-US" sz="2400" b="1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Dr. Anitha K</a:t>
            </a:r>
            <a:endParaRPr lang="en-US" sz="24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"/>
          <p:cNvSpPr/>
          <p:nvPr/>
        </p:nvSpPr>
        <p:spPr>
          <a:xfrm>
            <a:off x="4781916" y="4722379"/>
            <a:ext cx="749721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Department of Computer Science 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and 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Engineering</a:t>
            </a:r>
            <a:endParaRPr sz="2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2" name="Google Shape;92;p1"/>
          <p:cNvGrpSpPr/>
          <p:nvPr/>
        </p:nvGrpSpPr>
        <p:grpSpPr>
          <a:xfrm>
            <a:off x="313844" y="5489699"/>
            <a:ext cx="1066895" cy="1078155"/>
            <a:chOff x="313844" y="5489699"/>
            <a:chExt cx="1066895" cy="1078155"/>
          </a:xfrm>
        </p:grpSpPr>
        <p:sp>
          <p:nvSpPr>
            <p:cNvPr id="93" name="Google Shape;93;p1"/>
            <p:cNvSpPr/>
            <p:nvPr/>
          </p:nvSpPr>
          <p:spPr>
            <a:xfrm rot="5400000">
              <a:off x="824432" y="6011547"/>
              <a:ext cx="45719" cy="1066895"/>
            </a:xfrm>
            <a:prstGeom prst="rect">
              <a:avLst/>
            </a:prstGeom>
            <a:solidFill>
              <a:srgbClr val="C55A1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" name="Google Shape;94;p1"/>
            <p:cNvSpPr/>
            <p:nvPr/>
          </p:nvSpPr>
          <p:spPr>
            <a:xfrm rot="10800000">
              <a:off x="313844" y="5489699"/>
              <a:ext cx="45719" cy="1066895"/>
            </a:xfrm>
            <a:prstGeom prst="rect">
              <a:avLst/>
            </a:prstGeom>
            <a:solidFill>
              <a:srgbClr val="C55A1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95" name="Google Shape;95;p1"/>
          <p:cNvCxnSpPr/>
          <p:nvPr/>
        </p:nvCxnSpPr>
        <p:spPr>
          <a:xfrm rot="10800000" flipH="1">
            <a:off x="4781916" y="4112436"/>
            <a:ext cx="4581449" cy="1"/>
          </a:xfrm>
          <a:prstGeom prst="straightConnector1">
            <a:avLst/>
          </a:prstGeom>
          <a:noFill/>
          <a:ln w="38100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</p:cxnSp>
      <p:grpSp>
        <p:nvGrpSpPr>
          <p:cNvPr id="96" name="Google Shape;96;p1"/>
          <p:cNvGrpSpPr/>
          <p:nvPr/>
        </p:nvGrpSpPr>
        <p:grpSpPr>
          <a:xfrm rot="10800000">
            <a:off x="10855702" y="266068"/>
            <a:ext cx="1066895" cy="1078155"/>
            <a:chOff x="313844" y="5489699"/>
            <a:chExt cx="1066895" cy="1078155"/>
          </a:xfrm>
        </p:grpSpPr>
        <p:sp>
          <p:nvSpPr>
            <p:cNvPr id="97" name="Google Shape;97;p1"/>
            <p:cNvSpPr/>
            <p:nvPr/>
          </p:nvSpPr>
          <p:spPr>
            <a:xfrm rot="5400000">
              <a:off x="824432" y="6011547"/>
              <a:ext cx="45719" cy="1066895"/>
            </a:xfrm>
            <a:prstGeom prst="rect">
              <a:avLst/>
            </a:prstGeom>
            <a:solidFill>
              <a:srgbClr val="C55A1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" name="Google Shape;98;p1"/>
            <p:cNvSpPr/>
            <p:nvPr/>
          </p:nvSpPr>
          <p:spPr>
            <a:xfrm rot="10800000">
              <a:off x="313844" y="5489699"/>
              <a:ext cx="45719" cy="1066895"/>
            </a:xfrm>
            <a:prstGeom prst="rect">
              <a:avLst/>
            </a:prstGeom>
            <a:solidFill>
              <a:srgbClr val="C55A1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99" name="Google Shape;99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85100" y="1904787"/>
            <a:ext cx="1646392" cy="304842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 1"/>
          <p:cNvSpPr/>
          <p:nvPr/>
        </p:nvSpPr>
        <p:spPr>
          <a:xfrm>
            <a:off x="4847829" y="5184003"/>
            <a:ext cx="469872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SzPts val="2400"/>
            </a:pPr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Acknowledgement,</a:t>
            </a:r>
            <a:r>
              <a:rPr lang="en-US" sz="2400" b="1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 </a:t>
            </a:r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Prof. Pavan A </a:t>
            </a:r>
            <a:r>
              <a:rPr lang="en-US" sz="2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lang="en-US" sz="24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"/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Slides Credits for all the PPTs of this course </a:t>
            </a:r>
            <a:endParaRPr sz="2400" b="1" i="0" u="none" strike="noStrike" cap="none">
              <a:solidFill>
                <a:srgbClr val="C55A1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5" name="Google Shape;105;p2"/>
          <p:cNvCxnSpPr/>
          <p:nvPr/>
        </p:nvCxnSpPr>
        <p:spPr>
          <a:xfrm>
            <a:off x="-8308" y="1316458"/>
            <a:ext cx="8300052" cy="0"/>
          </a:xfrm>
          <a:prstGeom prst="straightConnector1">
            <a:avLst/>
          </a:prstGeom>
          <a:noFill/>
          <a:ln w="38100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06" name="Google Shape;106;p2"/>
          <p:cNvSpPr/>
          <p:nvPr/>
        </p:nvSpPr>
        <p:spPr>
          <a:xfrm>
            <a:off x="120177" y="1528577"/>
            <a:ext cx="10127175" cy="4739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ctr" anchorCtr="0">
            <a:sp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400"/>
              <a:buFont typeface="Arial"/>
              <a:buChar char="•"/>
            </a:pPr>
            <a:r>
              <a:rPr lang="en-US" sz="2400" b="0" i="0" u="none" strike="noStrike" cap="none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The slides/diagrams in this course are an </a:t>
            </a:r>
            <a:r>
              <a:rPr lang="en-US" sz="2400" b="1" i="0" u="none" strike="noStrike" cap="none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adaptation</a:t>
            </a:r>
            <a:r>
              <a:rPr lang="en-US" sz="2400" b="0" i="0" u="none" strike="noStrike" cap="none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2400" b="1" i="0" u="none" strike="noStrike" cap="none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combination</a:t>
            </a:r>
            <a:r>
              <a:rPr lang="en-US" sz="2400" b="0" i="0" u="none" strike="noStrike" cap="none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, and </a:t>
            </a:r>
            <a:r>
              <a:rPr lang="en-US" sz="2400" b="1" i="0" u="none" strike="noStrike" cap="none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enhancement</a:t>
            </a:r>
            <a:r>
              <a:rPr lang="en-US" sz="2400" b="0" i="0" u="none" strike="noStrike" cap="none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 of material from the following </a:t>
            </a:r>
            <a:r>
              <a:rPr lang="en-US" sz="2400" b="0" i="0" u="none" strike="noStrike" cap="none" dirty="0" smtClean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resources: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 algn="just">
              <a:lnSpc>
                <a:spcPct val="150000"/>
              </a:lnSpc>
              <a:spcBef>
                <a:spcPts val="1200"/>
              </a:spcBef>
              <a:buClr>
                <a:schemeClr val="dk1"/>
              </a:buClr>
              <a:buSzPts val="2000"/>
              <a:buFont typeface="Calibri"/>
              <a:buAutoNum type="arabicPeriod"/>
            </a:pPr>
            <a:r>
              <a:rPr lang="en-US" sz="240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</a:t>
            </a: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Operating System Concepts”, Abraham </a:t>
            </a:r>
            <a:r>
              <a:rPr lang="en-US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Silberschatz</a:t>
            </a: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Peter Baer Galvin, Greg Gagne 10th Edition, John Wiley &amp; Sons, Global Edition, 2023</a:t>
            </a:r>
            <a:r>
              <a:rPr lang="en-US" sz="240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</a:p>
          <a:p>
            <a:pPr marL="457200" lvl="0" indent="-355600" algn="just">
              <a:lnSpc>
                <a:spcPct val="150000"/>
              </a:lnSpc>
              <a:spcBef>
                <a:spcPts val="1200"/>
              </a:spcBef>
              <a:buClr>
                <a:schemeClr val="dk1"/>
              </a:buClr>
              <a:buSzPts val="2000"/>
              <a:buFont typeface="Calibri"/>
              <a:buAutoNum type="arabicPeriod"/>
            </a:pPr>
            <a:r>
              <a:rPr lang="en-US" sz="240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“Advanced </a:t>
            </a: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Programming in the Unix Environment”, Richard Stevens and Stephen A </a:t>
            </a:r>
            <a:r>
              <a:rPr lang="en-US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Rago</a:t>
            </a: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Pearson, 3rd edition, 2017.</a:t>
            </a:r>
          </a:p>
          <a:p>
            <a:pPr marL="457200" lvl="0" indent="-457200" algn="just">
              <a:lnSpc>
                <a:spcPct val="150000"/>
              </a:lnSpc>
              <a:buSzPts val="2400"/>
              <a:buFont typeface="Calibri"/>
              <a:buAutoNum type="arabicPeriod"/>
            </a:pPr>
            <a:r>
              <a:rPr lang="en-US" sz="2400" b="0" i="0" u="none" strike="noStrike" cap="none" dirty="0" smtClea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Some </a:t>
            </a:r>
            <a:r>
              <a:rPr lang="en-US" sz="24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conceptual text and diagram from </a:t>
            </a: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</a:t>
            </a: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Operating Systems, Internals and Design Principles”, William Stallings, 9th Edition, Pearson, 2018.</a:t>
            </a: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7" name="Google Shape;107;p2"/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OPERATING SYSTEMS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8" name="Google Shape;108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568325" y="621375"/>
            <a:ext cx="1066900" cy="19754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"/>
          <p:cNvSpPr/>
          <p:nvPr/>
        </p:nvSpPr>
        <p:spPr>
          <a:xfrm>
            <a:off x="598883" y="1849772"/>
            <a:ext cx="7497214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OPERATING SYSTEMS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3"/>
          <p:cNvSpPr/>
          <p:nvPr/>
        </p:nvSpPr>
        <p:spPr>
          <a:xfrm>
            <a:off x="598882" y="2888778"/>
            <a:ext cx="10060637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1" i="0" u="none" strike="noStrike" cap="none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Introduction, Computer System Organization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3"/>
          <p:cNvSpPr/>
          <p:nvPr/>
        </p:nvSpPr>
        <p:spPr>
          <a:xfrm>
            <a:off x="598883" y="5489699"/>
            <a:ext cx="7497214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Dr. Anitha K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3"/>
          <p:cNvSpPr/>
          <p:nvPr/>
        </p:nvSpPr>
        <p:spPr>
          <a:xfrm>
            <a:off x="598883" y="5887304"/>
            <a:ext cx="7497214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Department of Computer 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Science and Engineering</a:t>
            </a: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8" name="Google Shape;118;p3"/>
          <p:cNvGrpSpPr/>
          <p:nvPr/>
        </p:nvGrpSpPr>
        <p:grpSpPr>
          <a:xfrm>
            <a:off x="313844" y="5489699"/>
            <a:ext cx="1066895" cy="1078155"/>
            <a:chOff x="313844" y="5489699"/>
            <a:chExt cx="1066895" cy="1078155"/>
          </a:xfrm>
        </p:grpSpPr>
        <p:sp>
          <p:nvSpPr>
            <p:cNvPr id="119" name="Google Shape;119;p3"/>
            <p:cNvSpPr/>
            <p:nvPr/>
          </p:nvSpPr>
          <p:spPr>
            <a:xfrm rot="5400000">
              <a:off x="824432" y="6011547"/>
              <a:ext cx="45719" cy="1066895"/>
            </a:xfrm>
            <a:prstGeom prst="rect">
              <a:avLst/>
            </a:prstGeom>
            <a:solidFill>
              <a:srgbClr val="F4B08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" name="Google Shape;120;p3"/>
            <p:cNvSpPr/>
            <p:nvPr/>
          </p:nvSpPr>
          <p:spPr>
            <a:xfrm rot="10800000">
              <a:off x="313844" y="5489699"/>
              <a:ext cx="45719" cy="1066895"/>
            </a:xfrm>
            <a:prstGeom prst="rect">
              <a:avLst/>
            </a:prstGeom>
            <a:solidFill>
              <a:srgbClr val="F4B08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121" name="Google Shape;121;p3"/>
          <p:cNvCxnSpPr/>
          <p:nvPr/>
        </p:nvCxnSpPr>
        <p:spPr>
          <a:xfrm rot="10800000" flipH="1">
            <a:off x="0" y="2596822"/>
            <a:ext cx="7904054" cy="68537"/>
          </a:xfrm>
          <a:prstGeom prst="straightConnector1">
            <a:avLst/>
          </a:prstGeom>
          <a:noFill/>
          <a:ln w="38100" cap="flat" cmpd="sng">
            <a:solidFill>
              <a:srgbClr val="DFA267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122" name="Google Shape;122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568325" y="621375"/>
            <a:ext cx="1066900" cy="19754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"/>
          <p:cNvSpPr txBox="1">
            <a:spLocks noGrp="1"/>
          </p:cNvSpPr>
          <p:nvPr>
            <p:ph type="title" idx="4294967295"/>
          </p:nvPr>
        </p:nvSpPr>
        <p:spPr>
          <a:xfrm>
            <a:off x="393114" y="713906"/>
            <a:ext cx="7733400" cy="41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55A11"/>
              </a:buClr>
              <a:buSzPts val="2160"/>
              <a:buFont typeface="Calibri"/>
              <a:buNone/>
            </a:pPr>
            <a:r>
              <a:rPr lang="en-US" sz="2160" b="1" i="0" u="none" strike="noStrike" cap="none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Course Objectives:</a:t>
            </a:r>
            <a:endParaRPr sz="2160" b="1" i="0" u="none" strike="noStrike" cap="none">
              <a:solidFill>
                <a:srgbClr val="C55A1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2" name="Google Shape;252;p2"/>
          <p:cNvCxnSpPr/>
          <p:nvPr/>
        </p:nvCxnSpPr>
        <p:spPr>
          <a:xfrm>
            <a:off x="-8308" y="1316458"/>
            <a:ext cx="8300100" cy="0"/>
          </a:xfrm>
          <a:prstGeom prst="straightConnector1">
            <a:avLst/>
          </a:prstGeom>
          <a:noFill/>
          <a:ln w="38100" cap="flat" cmpd="sng">
            <a:solidFill>
              <a:srgbClr val="C55A11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253" name="Google Shape;253;p2"/>
          <p:cNvSpPr txBox="1"/>
          <p:nvPr/>
        </p:nvSpPr>
        <p:spPr>
          <a:xfrm>
            <a:off x="393114" y="1478604"/>
            <a:ext cx="7497300" cy="4688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1651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E75B5"/>
              </a:buClr>
              <a:buSzPts val="2800"/>
              <a:buFont typeface="Arial"/>
              <a:buNone/>
            </a:pP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2"/>
          <p:cNvSpPr txBox="1">
            <a:spLocks noGrp="1"/>
          </p:cNvSpPr>
          <p:nvPr>
            <p:ph type="body" idx="1"/>
          </p:nvPr>
        </p:nvSpPr>
        <p:spPr>
          <a:xfrm>
            <a:off x="334409" y="1647300"/>
            <a:ext cx="9707491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 algn="just">
              <a:lnSpc>
                <a:spcPct val="107916"/>
              </a:lnSpc>
              <a:spcBef>
                <a:spcPts val="0"/>
              </a:spcBef>
              <a:buSzPts val="1100"/>
              <a:buNone/>
            </a:pPr>
            <a:r>
              <a:rPr lang="en-US" sz="2400" dirty="0" smtClean="0"/>
              <a:t>Focus </a:t>
            </a:r>
            <a:r>
              <a:rPr lang="en-US" sz="2400" dirty="0"/>
              <a:t>on fundamental Operating System concepts.</a:t>
            </a:r>
          </a:p>
          <a:p>
            <a:pPr marL="342900" algn="just">
              <a:lnSpc>
                <a:spcPct val="107916"/>
              </a:lnSpc>
              <a:spcBef>
                <a:spcPts val="0"/>
              </a:spcBef>
              <a:buSzPts val="1100"/>
            </a:pPr>
            <a:r>
              <a:rPr lang="en-US" sz="2400" dirty="0" smtClean="0"/>
              <a:t>Provide </a:t>
            </a:r>
            <a:r>
              <a:rPr lang="en-US" sz="2400" dirty="0"/>
              <a:t>an understanding of various components of the Operating System (OS).</a:t>
            </a:r>
          </a:p>
          <a:p>
            <a:pPr marL="342900" algn="just">
              <a:lnSpc>
                <a:spcPct val="107916"/>
              </a:lnSpc>
              <a:spcBef>
                <a:spcPts val="0"/>
              </a:spcBef>
              <a:buSzPts val="1100"/>
            </a:pPr>
            <a:r>
              <a:rPr lang="en-US" sz="2400" dirty="0" smtClean="0"/>
              <a:t>Delve </a:t>
            </a:r>
            <a:r>
              <a:rPr lang="en-US" sz="2400" dirty="0"/>
              <a:t>deeper into various algorithms and associated trade-offs for efficient resource management such as process, disk, and memory management.</a:t>
            </a:r>
          </a:p>
          <a:p>
            <a:pPr marL="342900" algn="just">
              <a:lnSpc>
                <a:spcPct val="107916"/>
              </a:lnSpc>
              <a:spcBef>
                <a:spcPts val="0"/>
              </a:spcBef>
              <a:buSzPts val="1100"/>
            </a:pPr>
            <a:r>
              <a:rPr lang="en-US" sz="2400" dirty="0" smtClean="0"/>
              <a:t>Introduce </a:t>
            </a:r>
            <a:r>
              <a:rPr lang="en-US" sz="2400" dirty="0"/>
              <a:t>design principles and trade-offs in the design of Operating Systems.</a:t>
            </a:r>
          </a:p>
          <a:p>
            <a:pPr marL="6858000" lvl="0" indent="45720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18"/>
              <a:buFont typeface="Arial"/>
              <a:buNone/>
            </a:pPr>
            <a:endParaRPr sz="2400" dirty="0"/>
          </a:p>
          <a:p>
            <a:pPr marL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665"/>
              <a:buNone/>
            </a:pPr>
            <a:endParaRPr sz="2000" b="1" dirty="0"/>
          </a:p>
        </p:txBody>
      </p:sp>
      <p:sp>
        <p:nvSpPr>
          <p:cNvPr id="255" name="Google Shape;255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pic>
        <p:nvPicPr>
          <p:cNvPr id="7" name="Google Shape;122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568325" y="621375"/>
            <a:ext cx="1066900" cy="197545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319762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724bb8404b_0_15"/>
          <p:cNvSpPr txBox="1">
            <a:spLocks noGrp="1"/>
          </p:cNvSpPr>
          <p:nvPr>
            <p:ph type="title" idx="4294967295"/>
          </p:nvPr>
        </p:nvSpPr>
        <p:spPr>
          <a:xfrm>
            <a:off x="340863" y="113014"/>
            <a:ext cx="7733400" cy="41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55A11"/>
              </a:buClr>
              <a:buSzPts val="2160"/>
              <a:buFont typeface="Calibri"/>
              <a:buNone/>
            </a:pPr>
            <a:r>
              <a:rPr lang="en-US" sz="2160" b="1" i="0" u="none" strike="noStrike" cap="none" dirty="0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Course Outline</a:t>
            </a:r>
            <a:endParaRPr sz="2160" b="1" i="0" u="none" strike="noStrike" cap="none" dirty="0">
              <a:solidFill>
                <a:srgbClr val="C55A1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2" name="Google Shape;262;g3724bb8404b_0_15"/>
          <p:cNvCxnSpPr/>
          <p:nvPr/>
        </p:nvCxnSpPr>
        <p:spPr>
          <a:xfrm>
            <a:off x="-50109" y="710341"/>
            <a:ext cx="8300100" cy="0"/>
          </a:xfrm>
          <a:prstGeom prst="straightConnector1">
            <a:avLst/>
          </a:prstGeom>
          <a:noFill/>
          <a:ln w="38100" cap="flat" cmpd="sng">
            <a:solidFill>
              <a:srgbClr val="C55A11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263" name="Google Shape;263;g3724bb8404b_0_15"/>
          <p:cNvSpPr txBox="1"/>
          <p:nvPr/>
        </p:nvSpPr>
        <p:spPr>
          <a:xfrm>
            <a:off x="100506" y="935023"/>
            <a:ext cx="7497300" cy="4688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1651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E75B5"/>
              </a:buClr>
              <a:buSzPts val="2800"/>
              <a:buFont typeface="Arial"/>
              <a:buNone/>
            </a:pP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g3724bb8404b_0_15"/>
          <p:cNvSpPr txBox="1">
            <a:spLocks noGrp="1"/>
          </p:cNvSpPr>
          <p:nvPr>
            <p:ph type="body" idx="1"/>
          </p:nvPr>
        </p:nvSpPr>
        <p:spPr>
          <a:xfrm>
            <a:off x="100506" y="710341"/>
            <a:ext cx="11917245" cy="59500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>
              <a:lnSpc>
                <a:spcPct val="115000"/>
              </a:lnSpc>
              <a:buSzPts val="1018"/>
              <a:buNone/>
            </a:pPr>
            <a:r>
              <a:rPr lang="en-US" sz="2000" b="1" dirty="0"/>
              <a:t>Unit 1 : Introduction and Process Management – 14 hours</a:t>
            </a:r>
          </a:p>
          <a:p>
            <a:pPr marL="0" lvl="0" indent="0" algn="just">
              <a:lnSpc>
                <a:spcPct val="115000"/>
              </a:lnSpc>
              <a:buSzPts val="1018"/>
              <a:buNone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Operating Systems Do, Computer-System Organization, Computer-System Architecture, </a:t>
            </a:r>
            <a:r>
              <a:rPr lang="en-US" sz="20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Operating System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Structure &amp; Operations, Operating-System Services;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Process Concept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Process in Memory, Process State, Process Control Block (PCB), Process Creation and Termination, System Calls for Process Management, Life Cycle of I/O Requests.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CPU Scheduling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Basic Concepts, Scheduling Criteria, Scheduling Algorithms: First-Come First-Served (FCFS), Shortest-Job-First (SJF), Priority Scheduling, Round-Robin Scheduling, Multilevel Queue Scheduling, Multilevel Feedback Queue Scheduling;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Introduction to Shell Programming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Variables, Control Flow, Shell Scripts, Scheduler – </a:t>
            </a:r>
            <a:r>
              <a:rPr lang="en-US" sz="2000" dirty="0" err="1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cron</a:t>
            </a:r>
            <a:r>
              <a:rPr lang="en-US" sz="20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114300" indent="0">
              <a:buNone/>
            </a:pPr>
            <a:r>
              <a:rPr lang="en-US" sz="2000" b="1" dirty="0" smtClean="0"/>
              <a:t>Unit 2 : IPC, Threads and Concurrency – 14 hours</a:t>
            </a:r>
          </a:p>
          <a:p>
            <a:pPr marL="114300" indent="0" algn="just">
              <a:lnSpc>
                <a:spcPct val="100000"/>
              </a:lnSpc>
              <a:buNone/>
            </a:pPr>
            <a:r>
              <a:rPr lang="en-US" sz="2000" b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IPC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Shared Memory, Message Passing, Pipes – Named and Ordinary, System Calls for Shared Memory, Pipes and FIFOs, Linux Domain Sockets;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Introduction to Threads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Types of Threads, Multicore Programming, Multithreading Models, Thread Control Block (TCB), Thread Creation, Thread Scheduling, Thread Libraries, POSIX Threads (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Pthreads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);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Multicore Kernel Concepts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Symmetric Multiprocessing (SMP), Kernel Parallelism, CPU Affinity, Load Balancing, Multicore Scheduling;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Mutual Exclusion and Synchronization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Software Approaches, Principles of Concurrency, Hardware Support, 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Mutex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Locks, Semaphores; Scalable Synchronization: Spinlocks, Reader-Writer Locks, Lock Contention; Classic Synchronization Problems;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Deadlocks: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Principles of Deadlock, Deadlock Characterization, Deadlock Avoidance; Signals and Signal Handling.</a:t>
            </a:r>
          </a:p>
          <a:p>
            <a:pPr marL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665"/>
              <a:buNone/>
            </a:pPr>
            <a:endParaRPr sz="2000" b="1" dirty="0"/>
          </a:p>
        </p:txBody>
      </p:sp>
      <p:sp>
        <p:nvSpPr>
          <p:cNvPr id="265" name="Google Shape;265;g3724bb8404b_0_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pic>
        <p:nvPicPr>
          <p:cNvPr id="7" name="Google Shape;122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45980" y="51763"/>
            <a:ext cx="848612" cy="131715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532465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3"/>
          <p:cNvSpPr txBox="1">
            <a:spLocks noGrp="1"/>
          </p:cNvSpPr>
          <p:nvPr>
            <p:ph type="title" idx="4294967295"/>
          </p:nvPr>
        </p:nvSpPr>
        <p:spPr>
          <a:xfrm>
            <a:off x="393114" y="713906"/>
            <a:ext cx="7733400" cy="41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55A11"/>
              </a:buClr>
              <a:buSzPts val="2160"/>
              <a:buFont typeface="Calibri"/>
              <a:buNone/>
            </a:pPr>
            <a:r>
              <a:rPr lang="en-US" sz="2160" b="1" i="0" u="none" strike="noStrike" cap="none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Course Outline</a:t>
            </a:r>
            <a:endParaRPr sz="2160" b="1" i="0" u="none" strike="noStrike" cap="none">
              <a:solidFill>
                <a:srgbClr val="C55A1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2" name="Google Shape;272;p3"/>
          <p:cNvCxnSpPr/>
          <p:nvPr/>
        </p:nvCxnSpPr>
        <p:spPr>
          <a:xfrm>
            <a:off x="-8308" y="1316458"/>
            <a:ext cx="8300100" cy="0"/>
          </a:xfrm>
          <a:prstGeom prst="straightConnector1">
            <a:avLst/>
          </a:prstGeom>
          <a:noFill/>
          <a:ln w="38100" cap="flat" cmpd="sng">
            <a:solidFill>
              <a:srgbClr val="C55A11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273" name="Google Shape;273;p3"/>
          <p:cNvSpPr txBox="1"/>
          <p:nvPr/>
        </p:nvSpPr>
        <p:spPr>
          <a:xfrm>
            <a:off x="393114" y="1478604"/>
            <a:ext cx="7497300" cy="4688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1651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E75B5"/>
              </a:buClr>
              <a:buSzPts val="2800"/>
              <a:buFont typeface="Arial"/>
              <a:buNone/>
            </a:pP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3"/>
          <p:cNvSpPr txBox="1">
            <a:spLocks noGrp="1"/>
          </p:cNvSpPr>
          <p:nvPr>
            <p:ph type="body" idx="1"/>
          </p:nvPr>
        </p:nvSpPr>
        <p:spPr>
          <a:xfrm>
            <a:off x="244472" y="1406304"/>
            <a:ext cx="11146339" cy="483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0" lvl="0" indent="0" algn="just">
              <a:lnSpc>
                <a:spcPct val="100000"/>
              </a:lnSpc>
              <a:buSzPts val="852"/>
              <a:buNone/>
            </a:pPr>
            <a:r>
              <a:rPr lang="en-US" sz="2008" b="1" dirty="0"/>
              <a:t>Unit 3: Memory Management – 14 hours</a:t>
            </a:r>
          </a:p>
          <a:p>
            <a:pPr marL="0" lvl="0" indent="0" algn="just">
              <a:lnSpc>
                <a:spcPct val="100000"/>
              </a:lnSpc>
              <a:buSzPts val="852"/>
              <a:buNone/>
            </a:pPr>
            <a:r>
              <a:rPr lang="en-US" sz="2000" b="1" dirty="0"/>
              <a:t>Main Memory</a:t>
            </a:r>
            <a:r>
              <a:rPr lang="en-US" sz="2000" dirty="0"/>
              <a:t>: Hardware and Control Structures, OS Support, Address Translation, Dynamic Loading, Dynamic Linking and Shared Libraries, Memory-Mapped Files and </a:t>
            </a:r>
            <a:r>
              <a:rPr lang="en-US" sz="2000" dirty="0" err="1"/>
              <a:t>mmap</a:t>
            </a:r>
            <a:r>
              <a:rPr lang="en-US" sz="2000" dirty="0"/>
              <a:t>(), Swapping, Fragmentation, Segmentation, Paging, Structure of Page Tables, Translation Lookaside Buffer (TLB), TLB Hits and Misses, Effective Access Time (EAT); </a:t>
            </a:r>
            <a:r>
              <a:rPr lang="en-US" sz="2000" b="1" dirty="0"/>
              <a:t>Virtual Memory</a:t>
            </a:r>
            <a:r>
              <a:rPr lang="en-US" sz="2000" b="1" dirty="0" smtClean="0"/>
              <a:t>: </a:t>
            </a:r>
            <a:r>
              <a:rPr lang="en-US" sz="2000" dirty="0" smtClean="0"/>
              <a:t>Demand </a:t>
            </a:r>
            <a:r>
              <a:rPr lang="en-US" sz="2000" dirty="0"/>
              <a:t>Paging, Page-Fault Handling, Copy-on-Write, Page Replacement, Allocation of Frames, Thrashing, NUMA (Non-Uniform Memory Access) Basics and Memory Locality, Clock Page Replacement.</a:t>
            </a:r>
          </a:p>
          <a:p>
            <a:pPr marL="0" lvl="0" indent="0" algn="just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852"/>
              <a:buFont typeface="Arial"/>
              <a:buNone/>
            </a:pPr>
            <a:endParaRPr sz="2008" b="1" dirty="0"/>
          </a:p>
          <a:p>
            <a:pPr marL="0" lvl="0" indent="0" algn="just">
              <a:lnSpc>
                <a:spcPct val="100000"/>
              </a:lnSpc>
              <a:buSzPts val="852"/>
              <a:buNone/>
            </a:pPr>
            <a:r>
              <a:rPr lang="en-US" sz="2008" b="1" dirty="0"/>
              <a:t>Unit 4 : File Management, Storage Management and Security – 14 hours</a:t>
            </a:r>
          </a:p>
          <a:p>
            <a:pPr marL="0" lvl="0" indent="0" algn="just">
              <a:lnSpc>
                <a:spcPct val="100000"/>
              </a:lnSpc>
              <a:buSzPts val="852"/>
              <a:buNone/>
            </a:pPr>
            <a:r>
              <a:rPr lang="en-US" sz="2008" b="1" dirty="0"/>
              <a:t>File Concept</a:t>
            </a:r>
            <a:r>
              <a:rPr lang="en-US" sz="2008" dirty="0"/>
              <a:t>: Access Methods, Directory, Driver Development, Flash Drives, File-System sharing, File system protection, System calls to retrieve file attributes, file types, file operations, reading directories, File system implementation, Directory implementation, allocation methods, Free-Space Management, Efficiency and Performance, </a:t>
            </a:r>
            <a:r>
              <a:rPr lang="en-US" sz="2008" b="1" dirty="0"/>
              <a:t>Mass storage structure</a:t>
            </a:r>
            <a:r>
              <a:rPr lang="en-US" sz="2008" dirty="0"/>
              <a:t>, Disk Structure, Disk scheduling, Disk Management, RAID Structure, OS Security, Access Matrix, Implementation of the Access Matrix, Access Control, Revocation of Access Rights; Shell programming – </a:t>
            </a:r>
            <a:r>
              <a:rPr lang="en-US" sz="2008" dirty="0" err="1"/>
              <a:t>awk</a:t>
            </a:r>
            <a:r>
              <a:rPr lang="en-US" sz="2008" dirty="0"/>
              <a:t>, sed. </a:t>
            </a:r>
          </a:p>
        </p:txBody>
      </p:sp>
      <p:sp>
        <p:nvSpPr>
          <p:cNvPr id="275" name="Google Shape;275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pic>
        <p:nvPicPr>
          <p:cNvPr id="7" name="Google Shape;122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45980" y="51763"/>
            <a:ext cx="848612" cy="131715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133855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3724bb8404b_0_30"/>
          <p:cNvSpPr txBox="1">
            <a:spLocks noGrp="1"/>
          </p:cNvSpPr>
          <p:nvPr>
            <p:ph type="title" idx="4294967295"/>
          </p:nvPr>
        </p:nvSpPr>
        <p:spPr>
          <a:xfrm>
            <a:off x="393114" y="713906"/>
            <a:ext cx="7733400" cy="41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55A11"/>
              </a:buClr>
              <a:buSzPts val="2160"/>
              <a:buFont typeface="Calibri"/>
              <a:buNone/>
            </a:pPr>
            <a:r>
              <a:rPr lang="en-US" sz="2160" b="1" i="0" u="none" strike="noStrike" cap="none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Course Outcomes</a:t>
            </a:r>
            <a:endParaRPr sz="2160" b="1" i="0" u="none" strike="noStrike" cap="none">
              <a:solidFill>
                <a:srgbClr val="C55A1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2" name="Google Shape;292;g3724bb8404b_0_30"/>
          <p:cNvCxnSpPr/>
          <p:nvPr/>
        </p:nvCxnSpPr>
        <p:spPr>
          <a:xfrm>
            <a:off x="-8308" y="1316458"/>
            <a:ext cx="8300100" cy="0"/>
          </a:xfrm>
          <a:prstGeom prst="straightConnector1">
            <a:avLst/>
          </a:prstGeom>
          <a:noFill/>
          <a:ln w="38100" cap="flat" cmpd="sng">
            <a:solidFill>
              <a:srgbClr val="C55A11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293" name="Google Shape;293;g3724bb8404b_0_30"/>
          <p:cNvSpPr txBox="1"/>
          <p:nvPr/>
        </p:nvSpPr>
        <p:spPr>
          <a:xfrm>
            <a:off x="393114" y="1478604"/>
            <a:ext cx="7497300" cy="4688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1651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E75B5"/>
              </a:buClr>
              <a:buSzPts val="2800"/>
              <a:buFont typeface="Arial"/>
              <a:buNone/>
            </a:pP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g3724bb8404b_0_30"/>
          <p:cNvSpPr txBox="1">
            <a:spLocks noGrp="1"/>
          </p:cNvSpPr>
          <p:nvPr>
            <p:ph type="body" idx="1"/>
          </p:nvPr>
        </p:nvSpPr>
        <p:spPr>
          <a:xfrm>
            <a:off x="798700" y="1660800"/>
            <a:ext cx="9782214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just" rtl="0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SzPct val="59459"/>
              <a:buNone/>
            </a:pPr>
            <a:r>
              <a:rPr lang="en-US" sz="2400" dirty="0"/>
              <a:t>At the end of this course, the student will be able to: </a:t>
            </a:r>
            <a:endParaRPr sz="2400" dirty="0"/>
          </a:p>
          <a:p>
            <a:pPr marL="0" lvl="0" indent="0" algn="just" rtl="0">
              <a:lnSpc>
                <a:spcPct val="107916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59459"/>
              <a:buFont typeface="Arial"/>
              <a:buNone/>
            </a:pPr>
            <a:endParaRPr sz="2000" dirty="0"/>
          </a:p>
          <a:p>
            <a:pPr lvl="0"/>
            <a:r>
              <a:rPr lang="en-US" sz="2400" dirty="0"/>
              <a:t>Understand the principles and modules of Operating Systems.</a:t>
            </a:r>
          </a:p>
          <a:p>
            <a:pPr lvl="0"/>
            <a:r>
              <a:rPr lang="en-US" sz="2400" dirty="0"/>
              <a:t>Understand the design of various algorithms for scheduling and their relative performance.</a:t>
            </a:r>
          </a:p>
          <a:p>
            <a:pPr lvl="0"/>
            <a:r>
              <a:rPr lang="en-US" sz="2400" dirty="0"/>
              <a:t>Understand the concept of Deadlocks that typically occur in OS. Deadlocks - Avoidance and Detection.</a:t>
            </a:r>
          </a:p>
          <a:p>
            <a:pPr lvl="0"/>
            <a:r>
              <a:rPr lang="en-US" sz="2400" dirty="0"/>
              <a:t>Implement Operating Systems Concepts related to process management, Concurrent processes, Threads and Memory Management.</a:t>
            </a:r>
          </a:p>
        </p:txBody>
      </p:sp>
      <p:sp>
        <p:nvSpPr>
          <p:cNvPr id="295" name="Google Shape;295;g3724bb8404b_0_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pic>
        <p:nvPicPr>
          <p:cNvPr id="7" name="Google Shape;122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45980" y="51763"/>
            <a:ext cx="848612" cy="131715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981907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3724bb8404b_0_39"/>
          <p:cNvSpPr txBox="1">
            <a:spLocks noGrp="1"/>
          </p:cNvSpPr>
          <p:nvPr>
            <p:ph type="title" idx="4294967295"/>
          </p:nvPr>
        </p:nvSpPr>
        <p:spPr>
          <a:xfrm>
            <a:off x="393114" y="713906"/>
            <a:ext cx="7733400" cy="41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55A11"/>
              </a:buClr>
              <a:buSzPts val="2160"/>
              <a:buFont typeface="Calibri"/>
              <a:buNone/>
            </a:pPr>
            <a:r>
              <a:rPr lang="en-US" sz="2160" b="1" i="0" u="none" strike="noStrike" cap="none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Textbooks</a:t>
            </a:r>
            <a:endParaRPr sz="2160" b="1" i="0" u="none" strike="noStrike" cap="none">
              <a:solidFill>
                <a:srgbClr val="C55A1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4" name="Google Shape;314;g3724bb8404b_0_39"/>
          <p:cNvCxnSpPr/>
          <p:nvPr/>
        </p:nvCxnSpPr>
        <p:spPr>
          <a:xfrm>
            <a:off x="-8308" y="1316458"/>
            <a:ext cx="8300100" cy="0"/>
          </a:xfrm>
          <a:prstGeom prst="straightConnector1">
            <a:avLst/>
          </a:prstGeom>
          <a:noFill/>
          <a:ln w="38100" cap="flat" cmpd="sng">
            <a:solidFill>
              <a:srgbClr val="C55A11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315" name="Google Shape;315;g3724bb8404b_0_3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sp>
        <p:nvSpPr>
          <p:cNvPr id="316" name="Google Shape;316;g3724bb8404b_0_39"/>
          <p:cNvSpPr txBox="1"/>
          <p:nvPr/>
        </p:nvSpPr>
        <p:spPr>
          <a:xfrm>
            <a:off x="393113" y="1133306"/>
            <a:ext cx="10851829" cy="47397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7916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Text Book(s):</a:t>
            </a:r>
            <a:endParaRPr sz="20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 algn="just">
              <a:lnSpc>
                <a:spcPct val="107916"/>
              </a:lnSpc>
              <a:spcBef>
                <a:spcPts val="1200"/>
              </a:spcBef>
              <a:buClr>
                <a:schemeClr val="dk1"/>
              </a:buClr>
              <a:buSzPts val="2000"/>
              <a:buFont typeface="Calibri"/>
              <a:buAutoNum type="arabicPeriod"/>
            </a:pPr>
            <a:r>
              <a:rPr lang="en-US" sz="200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“Operating </a:t>
            </a: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System Concepts”, Abraham </a:t>
            </a:r>
            <a:r>
              <a:rPr lang="en-US" sz="20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Silberschatz</a:t>
            </a: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Peter Baer Galvin, Greg Gagne 10th Edition, John Wiley &amp; Sons, Global Edition, 2023.</a:t>
            </a:r>
          </a:p>
          <a:p>
            <a:pPr marL="457200" lvl="0" indent="-355600" algn="just">
              <a:lnSpc>
                <a:spcPct val="107916"/>
              </a:lnSpc>
              <a:spcBef>
                <a:spcPts val="1200"/>
              </a:spcBef>
              <a:buClr>
                <a:schemeClr val="dk1"/>
              </a:buClr>
              <a:buSzPts val="2000"/>
              <a:buFont typeface="Calibri"/>
              <a:buAutoNum type="arabicPeriod"/>
            </a:pPr>
            <a:r>
              <a:rPr lang="en-US" sz="200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“Advanced </a:t>
            </a: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Programming in the Unix Environment”, Richard Stevens and Stephen A </a:t>
            </a:r>
            <a:r>
              <a:rPr lang="en-US" sz="20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Rago</a:t>
            </a: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Pearson, 3rd edition, 2017.</a:t>
            </a:r>
          </a:p>
          <a:p>
            <a:pPr marL="457200" marR="0" lvl="0" indent="-355600" algn="just" rtl="0">
              <a:lnSpc>
                <a:spcPct val="107916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/>
            </a:pPr>
            <a:endParaRPr sz="2000" b="0" i="0" u="none" strike="noStrike" cap="none" dirty="0" smtClean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7916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Reference </a:t>
            </a:r>
            <a:r>
              <a:rPr lang="en-US" sz="20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Book(s):</a:t>
            </a:r>
            <a:endParaRPr dirty="0"/>
          </a:p>
          <a:p>
            <a:pPr marL="457200" lvl="0" indent="-355600" algn="just">
              <a:lnSpc>
                <a:spcPct val="107916"/>
              </a:lnSpc>
              <a:spcBef>
                <a:spcPts val="1200"/>
              </a:spcBef>
              <a:buClr>
                <a:schemeClr val="dk1"/>
              </a:buClr>
              <a:buSzPts val="2000"/>
              <a:buFont typeface="Calibri"/>
              <a:buAutoNum type="arabicPeriod"/>
            </a:pPr>
            <a:r>
              <a:rPr lang="en-US" sz="200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“Operating </a:t>
            </a: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Systems, Internals and Design Principles”, William Stallings, 9th Edition, Pearson, 2018.</a:t>
            </a:r>
          </a:p>
          <a:p>
            <a:pPr marL="457200" lvl="0" indent="-355600" algn="just">
              <a:lnSpc>
                <a:spcPct val="107916"/>
              </a:lnSpc>
              <a:spcBef>
                <a:spcPts val="1200"/>
              </a:spcBef>
              <a:buClr>
                <a:schemeClr val="dk1"/>
              </a:buClr>
              <a:buSzPts val="2000"/>
              <a:buFont typeface="Calibri"/>
              <a:buAutoNum type="arabicPeriod"/>
            </a:pPr>
            <a:r>
              <a:rPr lang="en-US" sz="200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“Modern </a:t>
            </a: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Operating Systems”, Andrew S </a:t>
            </a:r>
            <a:r>
              <a:rPr lang="en-US" sz="20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Tanenbaum</a:t>
            </a: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3rd edition, Pearson, 2007.</a:t>
            </a:r>
          </a:p>
          <a:p>
            <a:pPr marL="457200" lvl="0" indent="-355600" algn="just">
              <a:lnSpc>
                <a:spcPct val="107916"/>
              </a:lnSpc>
              <a:spcBef>
                <a:spcPts val="1200"/>
              </a:spcBef>
              <a:buClr>
                <a:schemeClr val="dk1"/>
              </a:buClr>
              <a:buSzPts val="2000"/>
              <a:buFont typeface="Calibri"/>
              <a:buAutoNum type="arabicPeriod"/>
            </a:pPr>
            <a:r>
              <a:rPr lang="en-US" sz="200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“Learning </a:t>
            </a: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bash shell”, Cameron </a:t>
            </a:r>
            <a:r>
              <a:rPr lang="en-US" sz="20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Newham</a:t>
            </a: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3rd edition, O’Reilly, 2005</a:t>
            </a:r>
          </a:p>
        </p:txBody>
      </p:sp>
      <p:pic>
        <p:nvPicPr>
          <p:cNvPr id="6" name="Google Shape;122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45980" y="51763"/>
            <a:ext cx="848612" cy="131715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24530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17864" y="370047"/>
            <a:ext cx="9144000" cy="502656"/>
          </a:xfrm>
        </p:spPr>
        <p:txBody>
          <a:bodyPr>
            <a:normAutofit/>
          </a:bodyPr>
          <a:lstStyle/>
          <a:p>
            <a:pPr algn="l"/>
            <a:r>
              <a:rPr lang="en-US" sz="2400" dirty="0" smtClean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Course Evaluation</a:t>
            </a:r>
            <a:r>
              <a:rPr lang="en-US" sz="2400" spc="-30" dirty="0" smtClean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spc="-10" dirty="0" smtClean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Policy</a:t>
            </a:r>
            <a:endParaRPr lang="en-US" sz="2400" dirty="0">
              <a:solidFill>
                <a:srgbClr val="FF0000"/>
              </a:solidFill>
            </a:endParaRPr>
          </a:p>
        </p:txBody>
      </p:sp>
      <p:pic>
        <p:nvPicPr>
          <p:cNvPr id="4" name="Google Shape;132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568325" y="621375"/>
            <a:ext cx="1066900" cy="1975454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129;p4"/>
          <p:cNvSpPr/>
          <p:nvPr/>
        </p:nvSpPr>
        <p:spPr>
          <a:xfrm>
            <a:off x="377435" y="61026"/>
            <a:ext cx="749721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OPERATING SYSTEMS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092602"/>
              </p:ext>
            </p:extLst>
          </p:nvPr>
        </p:nvGraphicFramePr>
        <p:xfrm>
          <a:off x="244612" y="1049596"/>
          <a:ext cx="9834690" cy="2913042"/>
        </p:xfrm>
        <a:graphic>
          <a:graphicData uri="http://schemas.openxmlformats.org/drawingml/2006/table">
            <a:tbl>
              <a:tblPr firstRow="1" firstCol="1" bandRow="1"/>
              <a:tblGrid>
                <a:gridCol w="4855129">
                  <a:extLst>
                    <a:ext uri="{9D8B030D-6E8A-4147-A177-3AD203B41FA5}">
                      <a16:colId xmlns:a16="http://schemas.microsoft.com/office/drawing/2014/main" val="1623673959"/>
                    </a:ext>
                  </a:extLst>
                </a:gridCol>
                <a:gridCol w="2288612">
                  <a:extLst>
                    <a:ext uri="{9D8B030D-6E8A-4147-A177-3AD203B41FA5}">
                      <a16:colId xmlns:a16="http://schemas.microsoft.com/office/drawing/2014/main" val="2675691400"/>
                    </a:ext>
                  </a:extLst>
                </a:gridCol>
                <a:gridCol w="2690949">
                  <a:extLst>
                    <a:ext uri="{9D8B030D-6E8A-4147-A177-3AD203B41FA5}">
                      <a16:colId xmlns:a16="http://schemas.microsoft.com/office/drawing/2014/main" val="4193195691"/>
                    </a:ext>
                  </a:extLst>
                </a:gridCol>
              </a:tblGrid>
              <a:tr h="474214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Components</a:t>
                      </a:r>
                      <a:endParaRPr lang="en-US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Conduction Marks</a:t>
                      </a:r>
                      <a:endParaRPr lang="en-US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CB9C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Scaled Marks</a:t>
                      </a:r>
                      <a:endParaRPr lang="en-US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CB9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9229784"/>
                  </a:ext>
                </a:extLst>
              </a:tr>
              <a:tr h="434741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Internal Semester Assessment  (</a:t>
                      </a: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ISA)-1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CB9C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15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CB9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5623955"/>
                  </a:ext>
                </a:extLst>
              </a:tr>
              <a:tr h="434741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Internal Semester Assessment (</a:t>
                      </a: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ISA)-2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CB9C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15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CB9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0687595"/>
                  </a:ext>
                </a:extLst>
              </a:tr>
              <a:tr h="480738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Experiential Learning / Continuous </a:t>
                      </a:r>
                      <a:r>
                        <a:rPr lang="en-US" sz="1800" b="1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Assessment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70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CB9C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CB9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4594835"/>
                  </a:ext>
                </a:extLst>
              </a:tr>
              <a:tr h="501614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ESA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100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CB9C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50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CB9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5142165"/>
                  </a:ext>
                </a:extLst>
              </a:tr>
              <a:tr h="217371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Total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en-US" sz="18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50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CB9C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100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CB9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13997"/>
                  </a:ext>
                </a:extLst>
              </a:tr>
            </a:tbl>
          </a:graphicData>
        </a:graphic>
      </p:graphicFrame>
      <p:cxnSp>
        <p:nvCxnSpPr>
          <p:cNvPr id="10" name="Google Shape;128;p4"/>
          <p:cNvCxnSpPr/>
          <p:nvPr/>
        </p:nvCxnSpPr>
        <p:spPr>
          <a:xfrm>
            <a:off x="-65784" y="961149"/>
            <a:ext cx="8300052" cy="0"/>
          </a:xfrm>
          <a:prstGeom prst="straightConnector1">
            <a:avLst/>
          </a:prstGeom>
          <a:noFill/>
          <a:ln w="38100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</p:cxnSp>
      <p:graphicFrame>
        <p:nvGraphicFramePr>
          <p:cNvPr id="14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4889062"/>
              </p:ext>
            </p:extLst>
          </p:nvPr>
        </p:nvGraphicFramePr>
        <p:xfrm>
          <a:off x="256033" y="4038067"/>
          <a:ext cx="9891193" cy="2808896"/>
        </p:xfrm>
        <a:graphic>
          <a:graphicData uri="http://schemas.openxmlformats.org/drawingml/2006/table">
            <a:tbl>
              <a:tblPr firstRow="1" firstCol="1" bandRow="1"/>
              <a:tblGrid>
                <a:gridCol w="4848933">
                  <a:extLst>
                    <a:ext uri="{9D8B030D-6E8A-4147-A177-3AD203B41FA5}">
                      <a16:colId xmlns:a16="http://schemas.microsoft.com/office/drawing/2014/main" val="3765693675"/>
                    </a:ext>
                  </a:extLst>
                </a:gridCol>
                <a:gridCol w="2288612">
                  <a:extLst>
                    <a:ext uri="{9D8B030D-6E8A-4147-A177-3AD203B41FA5}">
                      <a16:colId xmlns:a16="http://schemas.microsoft.com/office/drawing/2014/main" val="3178466333"/>
                    </a:ext>
                  </a:extLst>
                </a:gridCol>
                <a:gridCol w="2753648">
                  <a:extLst>
                    <a:ext uri="{9D8B030D-6E8A-4147-A177-3AD203B41FA5}">
                      <a16:colId xmlns:a16="http://schemas.microsoft.com/office/drawing/2014/main" val="119549635"/>
                    </a:ext>
                  </a:extLst>
                </a:gridCol>
              </a:tblGrid>
              <a:tr h="529251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317625" algn="l"/>
                        </a:tabLst>
                      </a:pPr>
                      <a:r>
                        <a:rPr lang="en-US" sz="20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Experiential Learning components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317625" algn="l"/>
                        </a:tabLst>
                      </a:pPr>
                      <a:r>
                        <a:rPr lang="en-US" sz="20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Conduction Marks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317625" algn="l"/>
                        </a:tabLst>
                      </a:pPr>
                      <a:r>
                        <a:rPr lang="en-US" sz="20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Scaled Marks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7429028"/>
                  </a:ext>
                </a:extLst>
              </a:tr>
              <a:tr h="449362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317625" algn="l"/>
                        </a:tabLst>
                      </a:pPr>
                      <a:r>
                        <a:rPr lang="en-US" sz="20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Level1 Problem-1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317625" algn="l"/>
                        </a:tabLst>
                      </a:pPr>
                      <a:r>
                        <a:rPr lang="en-US" sz="20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317625" algn="l"/>
                        </a:tabLst>
                      </a:pPr>
                      <a:r>
                        <a:rPr lang="en-US" sz="20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2373336"/>
                  </a:ext>
                </a:extLst>
              </a:tr>
              <a:tr h="510038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317625" algn="l"/>
                        </a:tabLst>
                      </a:pPr>
                      <a:r>
                        <a:rPr lang="en-US" sz="20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Level1 Problem-2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317625" algn="l"/>
                        </a:tabLst>
                      </a:pPr>
                      <a:r>
                        <a:rPr lang="en-US" sz="20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317625" algn="l"/>
                        </a:tabLst>
                      </a:pPr>
                      <a:r>
                        <a:rPr lang="en-US" sz="20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2222699"/>
                  </a:ext>
                </a:extLst>
              </a:tr>
              <a:tr h="597149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317625" algn="l"/>
                        </a:tabLst>
                      </a:pPr>
                      <a:r>
                        <a:rPr lang="en-US" sz="20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Level2 Problem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317625" algn="l"/>
                        </a:tabLst>
                      </a:pPr>
                      <a:r>
                        <a:rPr lang="en-US" sz="20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25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317625" algn="l"/>
                        </a:tabLst>
                      </a:pPr>
                      <a:r>
                        <a:rPr lang="en-US" sz="20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4349499"/>
                  </a:ext>
                </a:extLst>
              </a:tr>
              <a:tr h="381436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317625" algn="l"/>
                        </a:tabLst>
                      </a:pPr>
                      <a:r>
                        <a:rPr lang="en-US" sz="20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Level3 </a:t>
                      </a:r>
                      <a:r>
                        <a:rPr lang="en-US" sz="2000" b="1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Problem</a:t>
                      </a:r>
                      <a:endParaRPr lang="en-US" sz="20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317625" algn="l"/>
                        </a:tabLst>
                      </a:pPr>
                      <a:r>
                        <a:rPr lang="en-US" sz="20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25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317625" algn="l"/>
                        </a:tabLst>
                      </a:pPr>
                      <a:r>
                        <a:rPr lang="en-US" sz="20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3697757"/>
                  </a:ext>
                </a:extLst>
              </a:tr>
              <a:tr h="34166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317625" algn="l"/>
                        </a:tabLst>
                      </a:pPr>
                      <a:r>
                        <a:rPr lang="en-US" sz="20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Total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317625" algn="l"/>
                        </a:tabLst>
                      </a:pPr>
                      <a:r>
                        <a:rPr lang="en-US" sz="20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70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317625" algn="l"/>
                        </a:tabLst>
                      </a:pPr>
                      <a:r>
                        <a:rPr lang="en-US" sz="20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34084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835691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4"/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Need for Operating System</a:t>
            </a:r>
            <a:endParaRPr sz="2400" b="1" i="0" u="none" strike="noStrike" cap="none" dirty="0">
              <a:solidFill>
                <a:srgbClr val="C55A1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8" name="Google Shape;128;p4"/>
          <p:cNvCxnSpPr/>
          <p:nvPr/>
        </p:nvCxnSpPr>
        <p:spPr>
          <a:xfrm>
            <a:off x="-8308" y="1316458"/>
            <a:ext cx="8300052" cy="0"/>
          </a:xfrm>
          <a:prstGeom prst="straightConnector1">
            <a:avLst/>
          </a:prstGeom>
          <a:noFill/>
          <a:ln w="38100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29" name="Google Shape;129;p4"/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OPERATING SYSTEMS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0" name="Google Shape;130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93705" y="1604644"/>
            <a:ext cx="3611227" cy="3372316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4"/>
          <p:cNvSpPr txBox="1"/>
          <p:nvPr/>
        </p:nvSpPr>
        <p:spPr>
          <a:xfrm>
            <a:off x="804230" y="5453349"/>
            <a:ext cx="1073209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OS is not developed then how will the application developers access the hardware?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2" name="Google Shape;132;p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568325" y="621375"/>
            <a:ext cx="1066900" cy="19754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5"/>
          <p:cNvSpPr/>
          <p:nvPr/>
        </p:nvSpPr>
        <p:spPr>
          <a:xfrm>
            <a:off x="361370" y="653530"/>
            <a:ext cx="7999758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General Definition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5"/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OPERATING SYSTEMS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9" name="Google Shape;139;p5"/>
          <p:cNvCxnSpPr/>
          <p:nvPr/>
        </p:nvCxnSpPr>
        <p:spPr>
          <a:xfrm>
            <a:off x="-8308" y="1316458"/>
            <a:ext cx="8300052" cy="0"/>
          </a:xfrm>
          <a:prstGeom prst="straightConnector1">
            <a:avLst/>
          </a:prstGeom>
          <a:noFill/>
          <a:ln w="38100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40" name="Google Shape;140;p5"/>
          <p:cNvSpPr txBox="1"/>
          <p:nvPr/>
        </p:nvSpPr>
        <p:spPr>
          <a:xfrm>
            <a:off x="128338" y="1373264"/>
            <a:ext cx="9012196" cy="2805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 Operating System is a program that acts as an intermediary between a user of a computer and the computer hardware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 provides a user-friendly environment in which a user may easily develop and execute programs. Otherwise, hardware knowledge would be mandatory for computer programming.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1" name="Google Shape;141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25673" y="4136530"/>
            <a:ext cx="1628544" cy="2714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568325" y="621375"/>
            <a:ext cx="1066900" cy="19754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7"/>
          <p:cNvSpPr/>
          <p:nvPr/>
        </p:nvSpPr>
        <p:spPr>
          <a:xfrm>
            <a:off x="361370" y="653530"/>
            <a:ext cx="7999758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Operating System Goals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7"/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OPERATING SYSTEMS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0" name="Google Shape;150;p7"/>
          <p:cNvCxnSpPr/>
          <p:nvPr/>
        </p:nvCxnSpPr>
        <p:spPr>
          <a:xfrm>
            <a:off x="-8308" y="1316458"/>
            <a:ext cx="8300052" cy="0"/>
          </a:xfrm>
          <a:prstGeom prst="straightConnector1">
            <a:avLst/>
          </a:prstGeom>
          <a:noFill/>
          <a:ln w="38100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51" name="Google Shape;151;p7"/>
          <p:cNvSpPr txBox="1"/>
          <p:nvPr/>
        </p:nvSpPr>
        <p:spPr>
          <a:xfrm>
            <a:off x="0" y="1596513"/>
            <a:ext cx="8641771" cy="4688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742950" marR="0" lvl="1" indent="-2857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920"/>
              <a:buFont typeface="Arial"/>
              <a:buChar char="●"/>
            </a:pPr>
            <a:r>
              <a:rPr lang="en-US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Execute user programs and make solving user problems easier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42950" marR="0" lvl="1" indent="-285750" algn="just" rtl="0">
              <a:lnSpc>
                <a:spcPct val="150000"/>
              </a:lnSpc>
              <a:spcBef>
                <a:spcPts val="840"/>
              </a:spcBef>
              <a:spcAft>
                <a:spcPts val="0"/>
              </a:spcAft>
              <a:buClr>
                <a:srgbClr val="CC6600"/>
              </a:buClr>
              <a:buSzPts val="1920"/>
              <a:buFont typeface="Arial"/>
              <a:buChar char="●"/>
            </a:pPr>
            <a:r>
              <a:rPr lang="en-US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Make the computer system convenient to use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42950" marR="0" lvl="1" indent="-285750" algn="just" rtl="0">
              <a:lnSpc>
                <a:spcPct val="150000"/>
              </a:lnSpc>
              <a:spcBef>
                <a:spcPts val="840"/>
              </a:spcBef>
              <a:spcAft>
                <a:spcPts val="0"/>
              </a:spcAft>
              <a:buClr>
                <a:srgbClr val="CC6600"/>
              </a:buClr>
              <a:buSzPts val="1920"/>
              <a:buFont typeface="Arial"/>
              <a:buChar char="●"/>
            </a:pPr>
            <a:r>
              <a:rPr lang="en-US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Use the computer hardware in an efficient manner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42950" marR="0" lvl="1" indent="-285750" algn="just" rtl="0">
              <a:lnSpc>
                <a:spcPct val="150000"/>
              </a:lnSpc>
              <a:spcBef>
                <a:spcPts val="840"/>
              </a:spcBef>
              <a:spcAft>
                <a:spcPts val="0"/>
              </a:spcAft>
              <a:buClr>
                <a:srgbClr val="CC6600"/>
              </a:buClr>
              <a:buSzPts val="1920"/>
              <a:buFont typeface="Arial"/>
              <a:buChar char="●"/>
            </a:pPr>
            <a:r>
              <a:rPr lang="en-US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Manage resources such as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371600" marR="0" lvl="3" indent="0" algn="just" rtl="0">
              <a:lnSpc>
                <a:spcPct val="15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Memory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371600" marR="0" lvl="3" indent="0" algn="just" rtl="0">
              <a:lnSpc>
                <a:spcPct val="15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Processor(s)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371600" marR="0" lvl="3" indent="0" algn="just" rtl="0">
              <a:lnSpc>
                <a:spcPct val="15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I/O Devices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2" name="Google Shape;152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568325" y="621375"/>
            <a:ext cx="1066900" cy="19754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1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1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1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1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1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1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8"/>
          <p:cNvSpPr/>
          <p:nvPr/>
        </p:nvSpPr>
        <p:spPr>
          <a:xfrm>
            <a:off x="361370" y="653530"/>
            <a:ext cx="7999758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Why Study Operating Systems?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8"/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OPERATING SYSTEMS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0" name="Google Shape;160;p8"/>
          <p:cNvCxnSpPr/>
          <p:nvPr/>
        </p:nvCxnSpPr>
        <p:spPr>
          <a:xfrm>
            <a:off x="-8308" y="1316458"/>
            <a:ext cx="8300052" cy="0"/>
          </a:xfrm>
          <a:prstGeom prst="straightConnector1">
            <a:avLst/>
          </a:prstGeom>
          <a:noFill/>
          <a:ln w="38100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61" name="Google Shape;161;p8"/>
          <p:cNvSpPr txBox="1"/>
          <p:nvPr/>
        </p:nvSpPr>
        <p:spPr>
          <a:xfrm>
            <a:off x="0" y="1516314"/>
            <a:ext cx="9572711" cy="36175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742950" marR="0" lvl="1" indent="-2857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920"/>
              <a:buFont typeface="Arial"/>
              <a:buChar char="●"/>
            </a:pPr>
            <a:r>
              <a:rPr lang="en-US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Only a small percentage of computer practitioners will be involved in the creation or modification of an operating system.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42950" marR="0" lvl="1" indent="-285750" algn="just" rtl="0">
              <a:lnSpc>
                <a:spcPct val="150000"/>
              </a:lnSpc>
              <a:spcBef>
                <a:spcPts val="840"/>
              </a:spcBef>
              <a:spcAft>
                <a:spcPts val="0"/>
              </a:spcAft>
              <a:buClr>
                <a:srgbClr val="CC6600"/>
              </a:buClr>
              <a:buSzPts val="1920"/>
              <a:buFont typeface="Arial"/>
              <a:buChar char="●"/>
            </a:pPr>
            <a:r>
              <a:rPr lang="en-US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However almost all code runs on top of an operating system, and thus knowledge of how operating systems work is crucial to </a:t>
            </a:r>
            <a:r>
              <a:rPr lang="en-US" sz="2400" b="0" i="0" u="none" strike="noStrike" cap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proper</a:t>
            </a: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</a:t>
            </a:r>
            <a:r>
              <a:rPr lang="en-US" sz="2400" b="0" i="0" u="none" strike="noStrike" cap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 efficient</a:t>
            </a: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</a:t>
            </a:r>
            <a:r>
              <a:rPr lang="en-US" sz="2400" b="0" i="0" u="none" strike="noStrike" cap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 effective</a:t>
            </a: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</a:t>
            </a:r>
            <a:r>
              <a:rPr lang="en-US" sz="2400" b="0" i="0" u="none" strike="noStrike" cap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and</a:t>
            </a:r>
            <a:r>
              <a:rPr lang="en-US" sz="2400" b="0" i="0" u="none" strike="noStrike" cap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 secure programming</a:t>
            </a:r>
            <a:r>
              <a:rPr lang="en-US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42950" marR="0" lvl="1" indent="-285750" algn="just" rtl="0">
              <a:lnSpc>
                <a:spcPct val="150000"/>
              </a:lnSpc>
              <a:spcBef>
                <a:spcPts val="840"/>
              </a:spcBef>
              <a:spcAft>
                <a:spcPts val="0"/>
              </a:spcAft>
              <a:buClr>
                <a:srgbClr val="CC6600"/>
              </a:buClr>
              <a:buSzPts val="1920"/>
              <a:buFont typeface="Arial"/>
              <a:buChar char="●"/>
            </a:pPr>
            <a:r>
              <a:rPr lang="en-US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Understanding the fundamentals of operating systems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2" name="Google Shape;162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568325" y="621375"/>
            <a:ext cx="1066900" cy="19754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1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16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9"/>
          <p:cNvSpPr/>
          <p:nvPr/>
        </p:nvSpPr>
        <p:spPr>
          <a:xfrm>
            <a:off x="361370" y="653530"/>
            <a:ext cx="7999758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Four Components of a Computer System (Abstract view)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9"/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OPERATING SYSTEMS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0" name="Google Shape;170;p9"/>
          <p:cNvCxnSpPr/>
          <p:nvPr/>
        </p:nvCxnSpPr>
        <p:spPr>
          <a:xfrm>
            <a:off x="-8308" y="1316458"/>
            <a:ext cx="8300052" cy="0"/>
          </a:xfrm>
          <a:prstGeom prst="straightConnector1">
            <a:avLst/>
          </a:prstGeom>
          <a:noFill/>
          <a:ln w="38100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171" name="Google Shape;171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52625" y="1533525"/>
            <a:ext cx="5448300" cy="4340225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9"/>
          <p:cNvSpPr txBox="1"/>
          <p:nvPr/>
        </p:nvSpPr>
        <p:spPr>
          <a:xfrm>
            <a:off x="0" y="6611779"/>
            <a:ext cx="3005344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 dirty="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© </a:t>
            </a:r>
            <a:r>
              <a:rPr lang="en-US" sz="1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copyright </a:t>
            </a:r>
            <a:r>
              <a:rPr lang="en-US" sz="10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Silberschatz</a:t>
            </a:r>
            <a:r>
              <a:rPr lang="en-US"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Galvin and Gagne, 2013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3" name="Google Shape;173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568325" y="621375"/>
            <a:ext cx="1066900" cy="19754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0"/>
          <p:cNvSpPr/>
          <p:nvPr/>
        </p:nvSpPr>
        <p:spPr>
          <a:xfrm>
            <a:off x="91327" y="653530"/>
            <a:ext cx="7999758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Computer System Structure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10"/>
          <p:cNvSpPr/>
          <p:nvPr/>
        </p:nvSpPr>
        <p:spPr>
          <a:xfrm>
            <a:off x="91327" y="252240"/>
            <a:ext cx="749721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OPERATING SYSTEMS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1" name="Google Shape;181;p10"/>
          <p:cNvCxnSpPr/>
          <p:nvPr/>
        </p:nvCxnSpPr>
        <p:spPr>
          <a:xfrm>
            <a:off x="-8308" y="1316458"/>
            <a:ext cx="8300052" cy="0"/>
          </a:xfrm>
          <a:prstGeom prst="straightConnector1">
            <a:avLst/>
          </a:prstGeom>
          <a:noFill/>
          <a:ln w="38100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82" name="Google Shape;182;p10"/>
          <p:cNvSpPr txBox="1"/>
          <p:nvPr/>
        </p:nvSpPr>
        <p:spPr>
          <a:xfrm>
            <a:off x="91327" y="1417211"/>
            <a:ext cx="10179724" cy="50013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742950" marR="0" lvl="1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600"/>
              <a:buFont typeface="Arial"/>
              <a:buChar char="●"/>
            </a:pPr>
            <a:r>
              <a:rPr lang="en-US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Hardware – provides basic computing resources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085850" marR="0" lvl="2" indent="-228600" algn="l" rtl="0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9900"/>
              </a:buClr>
              <a:buSzPts val="1500"/>
              <a:buFont typeface="Arimo"/>
              <a:buChar char="4"/>
            </a:pPr>
            <a:r>
              <a:rPr lang="en-US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CPU, memory, I/O devices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42950" marR="0" lvl="1" indent="-285750" algn="l" rtl="0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CC6600"/>
              </a:buClr>
              <a:buSzPts val="1600"/>
              <a:buFont typeface="Arial"/>
              <a:buChar char="●"/>
            </a:pPr>
            <a:r>
              <a:rPr lang="en-US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Operating system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085850" marR="0" lvl="2" indent="-228600" algn="l" rtl="0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9900"/>
              </a:buClr>
              <a:buSzPts val="1500"/>
              <a:buFont typeface="Arimo"/>
              <a:buChar char="4"/>
            </a:pPr>
            <a:r>
              <a:rPr lang="en-US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Controls and coordinates use of hardware among various applications and users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42950" marR="0" lvl="1" indent="-285750" algn="l" rtl="0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CC6600"/>
              </a:buClr>
              <a:buSzPts val="1600"/>
              <a:buFont typeface="Arial"/>
              <a:buChar char="●"/>
            </a:pPr>
            <a:r>
              <a:rPr lang="en-US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Application programs – define the ways in which the system resources are used to solve the computing problems of the users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085850" marR="0" lvl="2" indent="-228600" algn="l" rtl="0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9900"/>
              </a:buClr>
              <a:buSzPts val="1500"/>
              <a:buFont typeface="Arimo"/>
              <a:buChar char="4"/>
            </a:pPr>
            <a:r>
              <a:rPr lang="en-US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Word processors, compilers, web browsers, database systems, video games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42950" marR="0" lvl="1" indent="-285750" algn="l" rtl="0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CC6600"/>
              </a:buClr>
              <a:buSzPts val="1600"/>
              <a:buFont typeface="Arial"/>
              <a:buChar char="●"/>
            </a:pPr>
            <a:r>
              <a:rPr lang="en-US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Users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085850" marR="0" lvl="2" indent="-228600" algn="l" rtl="0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9900"/>
              </a:buClr>
              <a:buSzPts val="1500"/>
              <a:buFont typeface="Arimo"/>
              <a:buChar char="4"/>
            </a:pPr>
            <a:r>
              <a:rPr lang="en-US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People, machines, other computers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3" name="Google Shape;183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568325" y="621375"/>
            <a:ext cx="1066900" cy="19754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1"/>
          <p:cNvSpPr/>
          <p:nvPr/>
        </p:nvSpPr>
        <p:spPr>
          <a:xfrm>
            <a:off x="130629" y="653530"/>
            <a:ext cx="7999758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What Operating Systems Do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11"/>
          <p:cNvSpPr/>
          <p:nvPr/>
        </p:nvSpPr>
        <p:spPr>
          <a:xfrm>
            <a:off x="130629" y="252240"/>
            <a:ext cx="749721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OPERATING SYSTEMS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1" name="Google Shape;191;p11"/>
          <p:cNvCxnSpPr/>
          <p:nvPr/>
        </p:nvCxnSpPr>
        <p:spPr>
          <a:xfrm>
            <a:off x="-8308" y="1316458"/>
            <a:ext cx="8300052" cy="0"/>
          </a:xfrm>
          <a:prstGeom prst="straightConnector1">
            <a:avLst/>
          </a:prstGeom>
          <a:noFill/>
          <a:ln w="38100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92" name="Google Shape;192;p11"/>
          <p:cNvSpPr txBox="1"/>
          <p:nvPr/>
        </p:nvSpPr>
        <p:spPr>
          <a:xfrm>
            <a:off x="130629" y="1516485"/>
            <a:ext cx="10065994" cy="5170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2160"/>
              <a:buFont typeface="Arial"/>
              <a:buChar char="●"/>
            </a:pPr>
            <a:r>
              <a:rPr lang="en-US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Depends on the point of view user and system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50000"/>
              </a:lnSpc>
              <a:spcBef>
                <a:spcPts val="840"/>
              </a:spcBef>
              <a:spcAft>
                <a:spcPts val="0"/>
              </a:spcAft>
              <a:buClr>
                <a:srgbClr val="993300"/>
              </a:buClr>
              <a:buSzPts val="2160"/>
              <a:buFont typeface="Arial"/>
              <a:buChar char="●"/>
            </a:pPr>
            <a:r>
              <a:rPr lang="en-US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Users want convenience, </a:t>
            </a:r>
            <a:r>
              <a:rPr lang="en-US" sz="2400" b="1" i="0" u="none" strike="noStrike" cap="none">
                <a:solidFill>
                  <a:srgbClr val="3366FF"/>
                </a:solidFill>
                <a:latin typeface="Calibri"/>
                <a:ea typeface="Calibri"/>
                <a:cs typeface="Calibri"/>
                <a:sym typeface="Calibri"/>
              </a:rPr>
              <a:t>ease</a:t>
            </a:r>
            <a:r>
              <a:rPr lang="en-US" sz="2400" b="0" i="0" u="none" strike="noStrike" cap="none">
                <a:solidFill>
                  <a:srgbClr val="3366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b="1" i="0" u="none" strike="noStrike" cap="none">
                <a:solidFill>
                  <a:srgbClr val="3366FF"/>
                </a:solidFill>
                <a:latin typeface="Calibri"/>
                <a:ea typeface="Calibri"/>
                <a:cs typeface="Calibri"/>
                <a:sym typeface="Calibri"/>
              </a:rPr>
              <a:t>of</a:t>
            </a:r>
            <a:r>
              <a:rPr lang="en-US" sz="2400" b="0" i="0" u="none" strike="noStrike" cap="none">
                <a:solidFill>
                  <a:srgbClr val="3366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b="1" i="0" u="none" strike="noStrike" cap="none">
                <a:solidFill>
                  <a:srgbClr val="3366FF"/>
                </a:solidFill>
                <a:latin typeface="Calibri"/>
                <a:ea typeface="Calibri"/>
                <a:cs typeface="Calibri"/>
                <a:sym typeface="Calibri"/>
              </a:rPr>
              <a:t>use </a:t>
            </a:r>
            <a:r>
              <a:rPr lang="en-US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and</a:t>
            </a:r>
            <a:r>
              <a:rPr lang="en-US" sz="2400" b="1" i="0" u="none" strike="noStrike" cap="none">
                <a:solidFill>
                  <a:srgbClr val="3366FF"/>
                </a:solidFill>
                <a:latin typeface="Calibri"/>
                <a:ea typeface="Calibri"/>
                <a:cs typeface="Calibri"/>
                <a:sym typeface="Calibri"/>
              </a:rPr>
              <a:t> good performance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42950" marR="0" lvl="1" indent="-285750" algn="l" rtl="0">
              <a:lnSpc>
                <a:spcPct val="150000"/>
              </a:lnSpc>
              <a:spcBef>
                <a:spcPts val="840"/>
              </a:spcBef>
              <a:spcAft>
                <a:spcPts val="0"/>
              </a:spcAft>
              <a:buClr>
                <a:srgbClr val="CC6600"/>
              </a:buClr>
              <a:buSzPts val="1920"/>
              <a:buFont typeface="Arial"/>
              <a:buChar char="●"/>
            </a:pPr>
            <a:r>
              <a:rPr lang="en-US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Don’t care about </a:t>
            </a:r>
            <a:r>
              <a:rPr lang="en-US" sz="2400" b="1" i="0" u="none" strike="noStrike" cap="none">
                <a:solidFill>
                  <a:srgbClr val="3366FF"/>
                </a:solidFill>
                <a:latin typeface="Calibri"/>
                <a:ea typeface="Calibri"/>
                <a:cs typeface="Calibri"/>
                <a:sym typeface="Calibri"/>
              </a:rPr>
              <a:t>resource</a:t>
            </a:r>
            <a:r>
              <a:rPr lang="en-US" sz="2400" b="0" i="0" u="none" strike="noStrike" cap="none">
                <a:solidFill>
                  <a:srgbClr val="3366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b="1" i="0" u="none" strike="noStrike" cap="none">
                <a:solidFill>
                  <a:srgbClr val="3366FF"/>
                </a:solidFill>
                <a:latin typeface="Calibri"/>
                <a:ea typeface="Calibri"/>
                <a:cs typeface="Calibri"/>
                <a:sym typeface="Calibri"/>
              </a:rPr>
              <a:t>utilization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50000"/>
              </a:lnSpc>
              <a:spcBef>
                <a:spcPts val="840"/>
              </a:spcBef>
              <a:spcAft>
                <a:spcPts val="0"/>
              </a:spcAft>
              <a:buClr>
                <a:srgbClr val="993300"/>
              </a:buClr>
              <a:buSzPts val="2160"/>
              <a:buFont typeface="Arial"/>
              <a:buChar char="●"/>
            </a:pPr>
            <a:r>
              <a:rPr lang="en-US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But shared computer such as </a:t>
            </a:r>
            <a:r>
              <a:rPr lang="en-US" sz="2400" b="1" i="0" u="none" strike="noStrike" cap="none">
                <a:solidFill>
                  <a:srgbClr val="3366FF"/>
                </a:solidFill>
                <a:latin typeface="Calibri"/>
                <a:ea typeface="Calibri"/>
                <a:cs typeface="Calibri"/>
                <a:sym typeface="Calibri"/>
              </a:rPr>
              <a:t>mainframe</a:t>
            </a:r>
            <a:r>
              <a:rPr lang="en-US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or </a:t>
            </a:r>
            <a:r>
              <a:rPr lang="en-US" sz="2400" b="1" i="0" u="none" strike="noStrike" cap="none">
                <a:solidFill>
                  <a:srgbClr val="3366FF"/>
                </a:solidFill>
                <a:latin typeface="Calibri"/>
                <a:ea typeface="Calibri"/>
                <a:cs typeface="Calibri"/>
                <a:sym typeface="Calibri"/>
              </a:rPr>
              <a:t>minicomputer</a:t>
            </a:r>
            <a:r>
              <a:rPr lang="en-US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must keep all users happy.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257300" marR="0" lvl="2" indent="-342900" algn="l" rtl="0">
              <a:lnSpc>
                <a:spcPct val="150000"/>
              </a:lnSpc>
              <a:spcBef>
                <a:spcPts val="840"/>
              </a:spcBef>
              <a:spcAft>
                <a:spcPts val="0"/>
              </a:spcAft>
              <a:buClr>
                <a:srgbClr val="993300"/>
              </a:buClr>
              <a:buSzPts val="2160"/>
              <a:buFont typeface="Arial"/>
              <a:buChar char="●"/>
            </a:pPr>
            <a:r>
              <a:rPr lang="en-US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Maximize resource utilization.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257300" marR="0" lvl="2" indent="-342900" algn="l" rtl="0">
              <a:lnSpc>
                <a:spcPct val="150000"/>
              </a:lnSpc>
              <a:spcBef>
                <a:spcPts val="840"/>
              </a:spcBef>
              <a:spcAft>
                <a:spcPts val="0"/>
              </a:spcAft>
              <a:buClr>
                <a:srgbClr val="993300"/>
              </a:buClr>
              <a:buSzPts val="2160"/>
              <a:buFont typeface="Arial"/>
              <a:buChar char="●"/>
            </a:pPr>
            <a:r>
              <a:rPr lang="en-US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Available CPU time, memory, and I/O are used efficiently and that no individual user takes more than her fair share</a:t>
            </a:r>
            <a:endParaRPr sz="2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3" name="Google Shape;193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568325" y="621375"/>
            <a:ext cx="1066900" cy="19754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2"/>
          <p:cNvSpPr/>
          <p:nvPr/>
        </p:nvSpPr>
        <p:spPr>
          <a:xfrm>
            <a:off x="130629" y="653530"/>
            <a:ext cx="7999758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What Operating Systems Do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12"/>
          <p:cNvSpPr/>
          <p:nvPr/>
        </p:nvSpPr>
        <p:spPr>
          <a:xfrm>
            <a:off x="130629" y="252240"/>
            <a:ext cx="749721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OPERATING SYSTEMS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1" name="Google Shape;201;p12"/>
          <p:cNvCxnSpPr/>
          <p:nvPr/>
        </p:nvCxnSpPr>
        <p:spPr>
          <a:xfrm>
            <a:off x="-8308" y="1316458"/>
            <a:ext cx="8300052" cy="0"/>
          </a:xfrm>
          <a:prstGeom prst="straightConnector1">
            <a:avLst/>
          </a:prstGeom>
          <a:noFill/>
          <a:ln w="38100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02" name="Google Shape;202;p12"/>
          <p:cNvSpPr txBox="1"/>
          <p:nvPr/>
        </p:nvSpPr>
        <p:spPr>
          <a:xfrm>
            <a:off x="130628" y="1516485"/>
            <a:ext cx="10533827" cy="47828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2160"/>
              <a:buFont typeface="Arial"/>
              <a:buChar char="●"/>
            </a:pPr>
            <a:r>
              <a:rPr lang="en-US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Users of dedicated systems such as workstations have dedicated resources but frequently use shared resources from servers.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200150" marR="0" lvl="2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ourier New"/>
              <a:buChar char="o"/>
            </a:pPr>
            <a:r>
              <a:rPr lang="en-US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resources like file, compute, and print servers are shared.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200150" marR="0" lvl="2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ourier New"/>
              <a:buChar char="o"/>
            </a:pPr>
            <a:r>
              <a:rPr lang="en-US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operating system is designed to compromise between individual usability and resource utilization</a:t>
            </a:r>
            <a:endParaRPr sz="2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lnSpc>
                <a:spcPct val="150000"/>
              </a:lnSpc>
              <a:spcBef>
                <a:spcPts val="840"/>
              </a:spcBef>
              <a:spcAft>
                <a:spcPts val="0"/>
              </a:spcAft>
              <a:buClr>
                <a:srgbClr val="993300"/>
              </a:buClr>
              <a:buSzPts val="2160"/>
              <a:buFont typeface="Arial"/>
              <a:buChar char="●"/>
            </a:pPr>
            <a:r>
              <a:rPr lang="en-US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Handheld computers are resource poor,  optimized for usability and battery life.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50000"/>
              </a:lnSpc>
              <a:spcBef>
                <a:spcPts val="840"/>
              </a:spcBef>
              <a:spcAft>
                <a:spcPts val="0"/>
              </a:spcAft>
              <a:buClr>
                <a:srgbClr val="993300"/>
              </a:buClr>
              <a:buSzPts val="2160"/>
              <a:buFont typeface="Arial"/>
              <a:buChar char="●"/>
            </a:pPr>
            <a:r>
              <a:rPr lang="en-US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Some computers have little or no user interface, such as embedded computers in devices and automobiles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3" name="Google Shape;203;p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568325" y="621375"/>
            <a:ext cx="1066900" cy="19754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3"/>
          <p:cNvSpPr/>
          <p:nvPr/>
        </p:nvSpPr>
        <p:spPr>
          <a:xfrm>
            <a:off x="361370" y="653530"/>
            <a:ext cx="7999758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System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1" i="0" u="none" strike="noStrike" cap="none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View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13"/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OPERATING SYSTEMS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1" name="Google Shape;211;p13"/>
          <p:cNvCxnSpPr/>
          <p:nvPr/>
        </p:nvCxnSpPr>
        <p:spPr>
          <a:xfrm>
            <a:off x="-8308" y="1316458"/>
            <a:ext cx="8300052" cy="0"/>
          </a:xfrm>
          <a:prstGeom prst="straightConnector1">
            <a:avLst/>
          </a:prstGeom>
          <a:noFill/>
          <a:ln w="38100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12" name="Google Shape;212;p13"/>
          <p:cNvSpPr txBox="1"/>
          <p:nvPr/>
        </p:nvSpPr>
        <p:spPr>
          <a:xfrm>
            <a:off x="130629" y="1481756"/>
            <a:ext cx="9853343" cy="46166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2160"/>
              <a:buFont typeface="Arial"/>
              <a:buChar char="●"/>
            </a:pPr>
            <a:r>
              <a:rPr lang="en-US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OS is a </a:t>
            </a:r>
            <a:r>
              <a:rPr lang="en-US" sz="2400" b="1" i="0" u="none" strike="noStrike" cap="none">
                <a:solidFill>
                  <a:srgbClr val="3366FF"/>
                </a:solidFill>
                <a:latin typeface="Calibri"/>
                <a:ea typeface="Calibri"/>
                <a:cs typeface="Calibri"/>
                <a:sym typeface="Calibri"/>
              </a:rPr>
              <a:t>resource allocator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42950" marR="0" lvl="1" indent="-285750" algn="l" rtl="0">
              <a:lnSpc>
                <a:spcPct val="150000"/>
              </a:lnSpc>
              <a:spcBef>
                <a:spcPts val="840"/>
              </a:spcBef>
              <a:spcAft>
                <a:spcPts val="0"/>
              </a:spcAft>
              <a:buClr>
                <a:srgbClr val="CC6600"/>
              </a:buClr>
              <a:buSzPts val="1920"/>
              <a:buFont typeface="Arial"/>
              <a:buChar char="●"/>
            </a:pPr>
            <a:r>
              <a:rPr lang="en-US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Manages all resources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42950" marR="0" lvl="1" indent="-285750" algn="l" rtl="0">
              <a:lnSpc>
                <a:spcPct val="150000"/>
              </a:lnSpc>
              <a:spcBef>
                <a:spcPts val="840"/>
              </a:spcBef>
              <a:spcAft>
                <a:spcPts val="0"/>
              </a:spcAft>
              <a:buClr>
                <a:srgbClr val="CC6600"/>
              </a:buClr>
              <a:buSzPts val="1920"/>
              <a:buFont typeface="Arial"/>
              <a:buChar char="●"/>
            </a:pPr>
            <a:r>
              <a:rPr lang="en-US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Decides between conflicting requests for efficient and fair resource use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50000"/>
              </a:lnSpc>
              <a:spcBef>
                <a:spcPts val="840"/>
              </a:spcBef>
              <a:spcAft>
                <a:spcPts val="0"/>
              </a:spcAft>
              <a:buClr>
                <a:srgbClr val="993300"/>
              </a:buClr>
              <a:buSzPts val="2160"/>
              <a:buFont typeface="Arial"/>
              <a:buChar char="●"/>
            </a:pPr>
            <a:r>
              <a:rPr lang="en-US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OS is a </a:t>
            </a:r>
            <a:r>
              <a:rPr lang="en-US" sz="2400" b="1" i="0" u="none" strike="noStrike" cap="none">
                <a:solidFill>
                  <a:srgbClr val="3366FF"/>
                </a:solidFill>
                <a:latin typeface="Calibri"/>
                <a:ea typeface="Calibri"/>
                <a:cs typeface="Calibri"/>
                <a:sym typeface="Calibri"/>
              </a:rPr>
              <a:t>control program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42950" marR="0" lvl="1" indent="-285750" algn="l" rtl="0">
              <a:lnSpc>
                <a:spcPct val="150000"/>
              </a:lnSpc>
              <a:spcBef>
                <a:spcPts val="840"/>
              </a:spcBef>
              <a:spcAft>
                <a:spcPts val="0"/>
              </a:spcAft>
              <a:buClr>
                <a:srgbClr val="CC6600"/>
              </a:buClr>
              <a:buSzPts val="1920"/>
              <a:buFont typeface="Arial"/>
              <a:buChar char="●"/>
            </a:pPr>
            <a:r>
              <a:rPr lang="en-US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Controls execution of programs to prevent errors and improper use of the computer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3" name="Google Shape;213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568325" y="621375"/>
            <a:ext cx="1066900" cy="19754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4"/>
          <p:cNvSpPr/>
          <p:nvPr/>
        </p:nvSpPr>
        <p:spPr>
          <a:xfrm>
            <a:off x="361370" y="653530"/>
            <a:ext cx="7999758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Defining Operating System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14"/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OPERATING SYSTEMS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1" name="Google Shape;221;p14"/>
          <p:cNvCxnSpPr/>
          <p:nvPr/>
        </p:nvCxnSpPr>
        <p:spPr>
          <a:xfrm>
            <a:off x="-8308" y="1316458"/>
            <a:ext cx="8300052" cy="0"/>
          </a:xfrm>
          <a:prstGeom prst="straightConnector1">
            <a:avLst/>
          </a:prstGeom>
          <a:noFill/>
          <a:ln w="38100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22" name="Google Shape;222;p14"/>
          <p:cNvSpPr txBox="1"/>
          <p:nvPr/>
        </p:nvSpPr>
        <p:spPr>
          <a:xfrm>
            <a:off x="130629" y="1481756"/>
            <a:ext cx="10140422" cy="5415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1800"/>
              <a:buFont typeface="Arial"/>
              <a:buChar char="●"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 OS has many roles and functions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993300"/>
              </a:buClr>
              <a:buSzPts val="1800"/>
              <a:buFont typeface="Arial"/>
              <a:buChar char="●"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 fundamental goal of computer systems is to execute user programs and to make solving user problems easier. 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993300"/>
              </a:buClr>
              <a:buSzPts val="1800"/>
              <a:buFont typeface="Arial"/>
              <a:buChar char="●"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 common functions of controlling and allocating resources are then brought together into one piece of software: the </a:t>
            </a:r>
            <a:r>
              <a:rPr lang="en-US" sz="2000" b="1" i="0" u="none" strike="noStrike" cap="none" dirty="0">
                <a:solidFill>
                  <a:srgbClr val="210DB3"/>
                </a:solidFill>
                <a:latin typeface="Calibri"/>
                <a:ea typeface="Calibri"/>
                <a:cs typeface="Calibri"/>
                <a:sym typeface="Calibri"/>
              </a:rPr>
              <a:t>operating system</a:t>
            </a:r>
            <a:endParaRPr sz="2000" b="1" i="0" u="none" strike="noStrike" cap="none" dirty="0">
              <a:solidFill>
                <a:srgbClr val="210DB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993300"/>
              </a:buClr>
              <a:buSzPts val="1800"/>
              <a:buFont typeface="Arial"/>
              <a:buChar char="●"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“The one program running at all times on the computer” is the </a:t>
            </a:r>
            <a:r>
              <a:rPr lang="en-US" sz="2000" b="1" i="0" u="none" strike="noStrike" cap="none" dirty="0">
                <a:solidFill>
                  <a:srgbClr val="3366FF"/>
                </a:solidFill>
                <a:latin typeface="Calibri"/>
                <a:ea typeface="Calibri"/>
                <a:cs typeface="Calibri"/>
                <a:sym typeface="Calibri"/>
              </a:rPr>
              <a:t>kernel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r>
              <a:rPr lang="en-US" sz="2000" b="1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endParaRPr sz="20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993300"/>
              </a:buClr>
              <a:buSzPts val="1800"/>
              <a:buFont typeface="Arial"/>
              <a:buChar char="●"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Everything else is either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42950" marR="0" lvl="1" indent="-285750" algn="l" rtl="0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CC6600"/>
              </a:buClr>
              <a:buSzPts val="1600"/>
              <a:buFont typeface="Arial"/>
              <a:buChar char="●"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 system program (ships with the operating system) , or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42950" marR="0" lvl="1" indent="-285750" algn="l" rtl="0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CC6600"/>
              </a:buClr>
              <a:buSzPts val="1600"/>
              <a:buFont typeface="Arial"/>
              <a:buChar char="●"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 application program.</a:t>
            </a:r>
            <a:endParaRPr sz="20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184150" algn="l" rtl="0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CC6600"/>
              </a:buClr>
              <a:buSzPts val="1600"/>
              <a:buFont typeface="Arial"/>
              <a:buNone/>
            </a:pPr>
            <a:endParaRPr sz="20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3" name="Google Shape;223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568325" y="621375"/>
            <a:ext cx="1066900" cy="19754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5"/>
          <p:cNvSpPr/>
          <p:nvPr/>
        </p:nvSpPr>
        <p:spPr>
          <a:xfrm>
            <a:off x="361370" y="653530"/>
            <a:ext cx="7999758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Computer System Organization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15"/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OPERATING SYSTEMS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31" name="Google Shape;231;p15"/>
          <p:cNvCxnSpPr/>
          <p:nvPr/>
        </p:nvCxnSpPr>
        <p:spPr>
          <a:xfrm>
            <a:off x="-8308" y="1316458"/>
            <a:ext cx="8300052" cy="0"/>
          </a:xfrm>
          <a:prstGeom prst="straightConnector1">
            <a:avLst/>
          </a:prstGeom>
          <a:noFill/>
          <a:ln w="38100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32" name="Google Shape;232;p15"/>
          <p:cNvSpPr txBox="1"/>
          <p:nvPr/>
        </p:nvSpPr>
        <p:spPr>
          <a:xfrm>
            <a:off x="237118" y="1343711"/>
            <a:ext cx="10055198" cy="43581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2160"/>
              <a:buFont typeface="Arial"/>
              <a:buChar char="●"/>
            </a:pPr>
            <a:r>
              <a:rPr lang="en-US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Computer-system consists of,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42950" marR="0" lvl="1" indent="-285750" algn="l" rtl="0">
              <a:lnSpc>
                <a:spcPct val="150000"/>
              </a:lnSpc>
              <a:spcBef>
                <a:spcPts val="840"/>
              </a:spcBef>
              <a:spcAft>
                <a:spcPts val="0"/>
              </a:spcAft>
              <a:buClr>
                <a:srgbClr val="CC6600"/>
              </a:buClr>
              <a:buSzPts val="1920"/>
              <a:buFont typeface="Arial"/>
              <a:buChar char="●"/>
            </a:pPr>
            <a:r>
              <a:rPr lang="en-US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One or more CPUs, device controllers connect through common bus providing access to shared memory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42950" marR="0" lvl="1" indent="-285750" algn="l" rtl="0">
              <a:lnSpc>
                <a:spcPct val="150000"/>
              </a:lnSpc>
              <a:spcBef>
                <a:spcPts val="840"/>
              </a:spcBef>
              <a:spcAft>
                <a:spcPts val="0"/>
              </a:spcAft>
              <a:buClr>
                <a:srgbClr val="CC6600"/>
              </a:buClr>
              <a:buSzPts val="1920"/>
              <a:buFont typeface="Arial"/>
              <a:buChar char="●"/>
            </a:pPr>
            <a:r>
              <a:rPr lang="en-US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 CPU and the device controllers can execute concurrently, competing for memory cycles.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200150" marR="0" lvl="2" indent="-285750" algn="l" rtl="0">
              <a:lnSpc>
                <a:spcPct val="150000"/>
              </a:lnSpc>
              <a:spcBef>
                <a:spcPts val="840"/>
              </a:spcBef>
              <a:spcAft>
                <a:spcPts val="0"/>
              </a:spcAft>
              <a:buClr>
                <a:srgbClr val="CC6600"/>
              </a:buClr>
              <a:buSzPts val="1920"/>
              <a:buFont typeface="Arial"/>
              <a:buChar char="●"/>
            </a:pPr>
            <a:r>
              <a:rPr lang="en-US" sz="2400" b="0" i="0" u="none" strike="noStrike" cap="none">
                <a:solidFill>
                  <a:schemeClr val="dk1"/>
                </a:solidFill>
                <a:latin typeface="Palatino"/>
                <a:ea typeface="Palatino"/>
                <a:cs typeface="Palatino"/>
                <a:sym typeface="Palatino"/>
              </a:rPr>
              <a:t>memory controller is provided to synchronize access to the memory.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15"/>
          <p:cNvSpPr txBox="1"/>
          <p:nvPr/>
        </p:nvSpPr>
        <p:spPr>
          <a:xfrm>
            <a:off x="19994" y="6605760"/>
            <a:ext cx="3005344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© </a:t>
            </a:r>
            <a:r>
              <a:rPr lang="en-US"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copyright Silberschatz, Galvin and Gagne, 2013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4" name="Google Shape;234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568325" y="621375"/>
            <a:ext cx="1066900" cy="19754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6"/>
          <p:cNvSpPr/>
          <p:nvPr/>
        </p:nvSpPr>
        <p:spPr>
          <a:xfrm>
            <a:off x="361370" y="653530"/>
            <a:ext cx="7999758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Computer System Organization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16"/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OPERATING SYSTEMS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42" name="Google Shape;242;p16"/>
          <p:cNvCxnSpPr/>
          <p:nvPr/>
        </p:nvCxnSpPr>
        <p:spPr>
          <a:xfrm>
            <a:off x="-8308" y="1316458"/>
            <a:ext cx="8300052" cy="0"/>
          </a:xfrm>
          <a:prstGeom prst="straightConnector1">
            <a:avLst/>
          </a:prstGeom>
          <a:noFill/>
          <a:ln w="38100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43" name="Google Shape;243;p16"/>
          <p:cNvSpPr txBox="1"/>
          <p:nvPr/>
        </p:nvSpPr>
        <p:spPr>
          <a:xfrm>
            <a:off x="19994" y="6605760"/>
            <a:ext cx="3005344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© </a:t>
            </a:r>
            <a:r>
              <a:rPr lang="en-US"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copyright Silberschatz, Galvin and Gagne, 2013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4" name="Google Shape;244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32616" y="1764914"/>
            <a:ext cx="6632150" cy="3351352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16"/>
          <p:cNvSpPr txBox="1"/>
          <p:nvPr/>
        </p:nvSpPr>
        <p:spPr>
          <a:xfrm>
            <a:off x="2297019" y="5364542"/>
            <a:ext cx="610334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modern computer system</a:t>
            </a:r>
            <a:endParaRPr sz="18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6" name="Google Shape;246;p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568325" y="621375"/>
            <a:ext cx="1066900" cy="19754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7"/>
          <p:cNvSpPr/>
          <p:nvPr/>
        </p:nvSpPr>
        <p:spPr>
          <a:xfrm>
            <a:off x="361370" y="653530"/>
            <a:ext cx="7999758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Computer System Operation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17"/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OPERATING SYSTEMS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4" name="Google Shape;254;p17"/>
          <p:cNvCxnSpPr/>
          <p:nvPr/>
        </p:nvCxnSpPr>
        <p:spPr>
          <a:xfrm>
            <a:off x="-8308" y="1316458"/>
            <a:ext cx="8300052" cy="0"/>
          </a:xfrm>
          <a:prstGeom prst="straightConnector1">
            <a:avLst/>
          </a:prstGeom>
          <a:noFill/>
          <a:ln w="38100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55" name="Google Shape;255;p17"/>
          <p:cNvSpPr txBox="1"/>
          <p:nvPr/>
        </p:nvSpPr>
        <p:spPr>
          <a:xfrm>
            <a:off x="144793" y="1266592"/>
            <a:ext cx="9362764" cy="5613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2070"/>
              <a:buFont typeface="Arial"/>
              <a:buChar char="•"/>
            </a:pPr>
            <a:r>
              <a:rPr lang="en-US" sz="2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I/O devices and the CPU can execute concurrently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50000"/>
              </a:lnSpc>
              <a:spcBef>
                <a:spcPts val="805"/>
              </a:spcBef>
              <a:spcAft>
                <a:spcPts val="0"/>
              </a:spcAft>
              <a:buClr>
                <a:srgbClr val="993300"/>
              </a:buClr>
              <a:buSzPts val="2070"/>
              <a:buFont typeface="Arial"/>
              <a:buChar char="•"/>
            </a:pPr>
            <a:r>
              <a:rPr lang="en-US" sz="2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Each device controller is in charge of a particular device type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50000"/>
              </a:lnSpc>
              <a:spcBef>
                <a:spcPts val="805"/>
              </a:spcBef>
              <a:spcAft>
                <a:spcPts val="0"/>
              </a:spcAft>
              <a:buClr>
                <a:srgbClr val="993300"/>
              </a:buClr>
              <a:buSzPts val="2070"/>
              <a:buFont typeface="Arial"/>
              <a:buChar char="•"/>
            </a:pPr>
            <a:r>
              <a:rPr lang="en-US" sz="2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Each device controller has a local buffer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50000"/>
              </a:lnSpc>
              <a:spcBef>
                <a:spcPts val="805"/>
              </a:spcBef>
              <a:spcAft>
                <a:spcPts val="0"/>
              </a:spcAft>
              <a:buClr>
                <a:srgbClr val="993300"/>
              </a:buClr>
              <a:buSzPts val="2070"/>
              <a:buFont typeface="Arial"/>
              <a:buChar char="•"/>
            </a:pPr>
            <a:r>
              <a:rPr lang="en-US" sz="2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Each device controller has registers for action (like “read character from keyboard”) to take</a:t>
            </a:r>
            <a:endParaRPr sz="23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lnSpc>
                <a:spcPct val="150000"/>
              </a:lnSpc>
              <a:spcBef>
                <a:spcPts val="805"/>
              </a:spcBef>
              <a:spcAft>
                <a:spcPts val="0"/>
              </a:spcAft>
              <a:buClr>
                <a:srgbClr val="993300"/>
              </a:buClr>
              <a:buSzPts val="2070"/>
              <a:buFont typeface="Arial"/>
              <a:buChar char="•"/>
            </a:pPr>
            <a:r>
              <a:rPr lang="en-US" sz="2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CPU moves data from/to main memory to/from local buffers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50000"/>
              </a:lnSpc>
              <a:spcBef>
                <a:spcPts val="805"/>
              </a:spcBef>
              <a:spcAft>
                <a:spcPts val="0"/>
              </a:spcAft>
              <a:buClr>
                <a:srgbClr val="993300"/>
              </a:buClr>
              <a:buSzPts val="2070"/>
              <a:buFont typeface="Arial"/>
              <a:buChar char="•"/>
            </a:pPr>
            <a:r>
              <a:rPr lang="en-US" sz="2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I/O is from the device to local buffer of controller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50000"/>
              </a:lnSpc>
              <a:spcBef>
                <a:spcPts val="805"/>
              </a:spcBef>
              <a:spcAft>
                <a:spcPts val="0"/>
              </a:spcAft>
              <a:buClr>
                <a:srgbClr val="993300"/>
              </a:buClr>
              <a:buSzPts val="2070"/>
              <a:buFont typeface="Arial"/>
              <a:buChar char="•"/>
            </a:pPr>
            <a:r>
              <a:rPr lang="en-US" sz="2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Device controller informs CPU that it has finished its operation by causing an </a:t>
            </a:r>
            <a:r>
              <a:rPr lang="en-US" sz="2300" b="0" i="0" u="none" strike="noStrike" cap="non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interrupt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6" name="Google Shape;256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568325" y="621375"/>
            <a:ext cx="1066900" cy="19754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8"/>
          <p:cNvSpPr/>
          <p:nvPr/>
        </p:nvSpPr>
        <p:spPr>
          <a:xfrm>
            <a:off x="202027" y="653530"/>
            <a:ext cx="7999758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Computer System Organization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18"/>
          <p:cNvSpPr/>
          <p:nvPr/>
        </p:nvSpPr>
        <p:spPr>
          <a:xfrm>
            <a:off x="202027" y="252240"/>
            <a:ext cx="749721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OPERATING SYSTEMS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64" name="Google Shape;264;p18"/>
          <p:cNvCxnSpPr/>
          <p:nvPr/>
        </p:nvCxnSpPr>
        <p:spPr>
          <a:xfrm>
            <a:off x="-8308" y="1316458"/>
            <a:ext cx="8300052" cy="0"/>
          </a:xfrm>
          <a:prstGeom prst="straightConnector1">
            <a:avLst/>
          </a:prstGeom>
          <a:noFill/>
          <a:ln w="38100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65" name="Google Shape;265;p18"/>
          <p:cNvSpPr txBox="1"/>
          <p:nvPr/>
        </p:nvSpPr>
        <p:spPr>
          <a:xfrm>
            <a:off x="202026" y="1343711"/>
            <a:ext cx="11706439" cy="48936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600"/>
              <a:buFont typeface="Arial"/>
              <a:buChar char="•"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When the system is booted, the first program that starts running is a 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Boostrap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CC6600"/>
              </a:buClr>
              <a:buSzPts val="1600"/>
              <a:buFont typeface="Arial"/>
              <a:buChar char="•"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It is stored in read-only memory (ROM) or electrically erasable programmable read-only memory (EEPROM).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CC6600"/>
              </a:buClr>
              <a:buSzPts val="1600"/>
              <a:buFont typeface="Arial"/>
              <a:buChar char="•"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Bootstrap is known by the general term firmware, within the computer hardware.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CC6600"/>
              </a:buClr>
              <a:buSzPts val="1600"/>
              <a:buFont typeface="Arial"/>
              <a:buChar char="•"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It initializes all aspects of the system, from CPU registers to device controllers to memory contents. 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CC6600"/>
              </a:buClr>
              <a:buSzPts val="1600"/>
              <a:buFont typeface="Arial"/>
              <a:buChar char="•"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 bootstrap program must know how to load the operating system and how to start executing that system. 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CC6600"/>
              </a:buClr>
              <a:buSzPts val="1600"/>
              <a:buFont typeface="Arial"/>
              <a:buChar char="•"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 bootstrap program must locate and load into memory the operating system kernel.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CC6600"/>
              </a:buClr>
              <a:buSzPts val="1600"/>
              <a:buFont typeface="Arial"/>
              <a:buChar char="•"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 first program that is created is </a:t>
            </a:r>
            <a:r>
              <a:rPr lang="en-US" sz="2000" b="1" i="0" u="none" strike="noStrike" cap="none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init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after the OS is booted. It waits for the occurrence of event.</a:t>
            </a:r>
            <a:endParaRPr sz="20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8"/>
          <p:cNvSpPr txBox="1"/>
          <p:nvPr/>
        </p:nvSpPr>
        <p:spPr>
          <a:xfrm>
            <a:off x="19994" y="6605760"/>
            <a:ext cx="3005344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 dirty="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© </a:t>
            </a:r>
            <a:r>
              <a:rPr lang="en-US" sz="1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copyright </a:t>
            </a:r>
            <a:r>
              <a:rPr lang="en-US" sz="10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Silberschatz</a:t>
            </a:r>
            <a:r>
              <a:rPr lang="en-US" sz="1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Galvin and Gagne, 2013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7" name="Google Shape;267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35375" y="129025"/>
            <a:ext cx="973100" cy="1801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9"/>
          <p:cNvSpPr/>
          <p:nvPr/>
        </p:nvSpPr>
        <p:spPr>
          <a:xfrm>
            <a:off x="361370" y="653530"/>
            <a:ext cx="7999758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Common Functions of Interrupts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19"/>
          <p:cNvSpPr/>
          <p:nvPr/>
        </p:nvSpPr>
        <p:spPr>
          <a:xfrm>
            <a:off x="361370" y="252240"/>
            <a:ext cx="749721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OPERATING SYSTEMS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75" name="Google Shape;275;p19"/>
          <p:cNvCxnSpPr/>
          <p:nvPr/>
        </p:nvCxnSpPr>
        <p:spPr>
          <a:xfrm>
            <a:off x="-8308" y="1316458"/>
            <a:ext cx="8300052" cy="0"/>
          </a:xfrm>
          <a:prstGeom prst="straightConnector1">
            <a:avLst/>
          </a:prstGeom>
          <a:noFill/>
          <a:ln w="38100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76" name="Google Shape;276;p19"/>
          <p:cNvSpPr txBox="1"/>
          <p:nvPr/>
        </p:nvSpPr>
        <p:spPr>
          <a:xfrm>
            <a:off x="361371" y="1475915"/>
            <a:ext cx="7421662" cy="49121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2160"/>
              <a:buFont typeface="Arial"/>
              <a:buChar char="•"/>
            </a:pPr>
            <a:r>
              <a:rPr lang="en-US" sz="24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 operating system is </a:t>
            </a:r>
            <a:r>
              <a:rPr lang="en-US" sz="2400" b="1" i="0" u="none" strike="noStrike" cap="none" dirty="0">
                <a:solidFill>
                  <a:srgbClr val="3366FF"/>
                </a:solidFill>
                <a:latin typeface="Calibri"/>
                <a:ea typeface="Calibri"/>
                <a:cs typeface="Calibri"/>
                <a:sym typeface="Calibri"/>
              </a:rPr>
              <a:t>interrupt driven</a:t>
            </a:r>
            <a:endParaRPr sz="24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just" rtl="0">
              <a:lnSpc>
                <a:spcPct val="150000"/>
              </a:lnSpc>
              <a:spcBef>
                <a:spcPts val="840"/>
              </a:spcBef>
              <a:spcAft>
                <a:spcPts val="0"/>
              </a:spcAft>
              <a:buClr>
                <a:srgbClr val="993300"/>
              </a:buClr>
              <a:buSzPts val="2160"/>
              <a:buFont typeface="Arial"/>
              <a:buChar char="•"/>
            </a:pPr>
            <a:r>
              <a:rPr lang="en-US" sz="24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Interrupt transfers control to the interrupt service routine generally, through the </a:t>
            </a:r>
            <a:r>
              <a:rPr lang="en-US" sz="2400" b="1" i="0" u="none" strike="noStrike" cap="none" dirty="0">
                <a:solidFill>
                  <a:srgbClr val="3366FF"/>
                </a:solidFill>
                <a:latin typeface="Calibri"/>
                <a:ea typeface="Calibri"/>
                <a:cs typeface="Calibri"/>
                <a:sym typeface="Calibri"/>
              </a:rPr>
              <a:t>interrupt</a:t>
            </a:r>
            <a:r>
              <a:rPr lang="en-US" sz="2400" b="0" i="1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b="1" i="0" u="none" strike="noStrike" cap="none" dirty="0">
                <a:solidFill>
                  <a:srgbClr val="3366FF"/>
                </a:solidFill>
                <a:latin typeface="Calibri"/>
                <a:ea typeface="Calibri"/>
                <a:cs typeface="Calibri"/>
                <a:sym typeface="Calibri"/>
              </a:rPr>
              <a:t>vector</a:t>
            </a:r>
            <a:r>
              <a:rPr lang="en-US" sz="24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which contains the addresses of all the service routines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just" rtl="0">
              <a:lnSpc>
                <a:spcPct val="150000"/>
              </a:lnSpc>
              <a:spcBef>
                <a:spcPts val="840"/>
              </a:spcBef>
              <a:spcAft>
                <a:spcPts val="0"/>
              </a:spcAft>
              <a:buClr>
                <a:srgbClr val="993300"/>
              </a:buClr>
              <a:buSzPts val="2160"/>
              <a:buFont typeface="Arial"/>
              <a:buChar char="•"/>
            </a:pPr>
            <a:r>
              <a:rPr lang="en-US" sz="24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Interrupt architecture must save the address of the interrupted instruction</a:t>
            </a:r>
            <a:endParaRPr sz="2400" b="0" i="1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just" rtl="0">
              <a:lnSpc>
                <a:spcPct val="150000"/>
              </a:lnSpc>
              <a:spcBef>
                <a:spcPts val="840"/>
              </a:spcBef>
              <a:spcAft>
                <a:spcPts val="0"/>
              </a:spcAft>
              <a:buClr>
                <a:srgbClr val="993300"/>
              </a:buClr>
              <a:buSzPts val="2160"/>
              <a:buFont typeface="Arial"/>
              <a:buChar char="•"/>
            </a:pPr>
            <a:r>
              <a:rPr lang="en-US" sz="24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lang="en-US" sz="2400" b="1" i="0" u="none" strike="noStrike" cap="none" dirty="0">
                <a:solidFill>
                  <a:srgbClr val="3366FF"/>
                </a:solidFill>
                <a:latin typeface="Calibri"/>
                <a:ea typeface="Calibri"/>
                <a:cs typeface="Calibri"/>
                <a:sym typeface="Calibri"/>
              </a:rPr>
              <a:t>trap</a:t>
            </a:r>
            <a:r>
              <a:rPr lang="en-US" sz="24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or </a:t>
            </a:r>
            <a:r>
              <a:rPr lang="en-US" sz="2400" b="1" i="0" u="none" strike="noStrike" cap="none" dirty="0">
                <a:solidFill>
                  <a:srgbClr val="3366FF"/>
                </a:solidFill>
                <a:latin typeface="Calibri"/>
                <a:ea typeface="Calibri"/>
                <a:cs typeface="Calibri"/>
                <a:sym typeface="Calibri"/>
              </a:rPr>
              <a:t>exception</a:t>
            </a:r>
            <a:r>
              <a:rPr lang="en-US" sz="24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is a software-generated interrupt caused either by an error or a user request</a:t>
            </a:r>
            <a:endParaRPr sz="24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7" name="Google Shape;277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83144" y="2666294"/>
            <a:ext cx="3813988" cy="27800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78" name="Google Shape;278;p1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676050" y="328725"/>
            <a:ext cx="1066900" cy="19754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20"/>
          <p:cNvSpPr/>
          <p:nvPr/>
        </p:nvSpPr>
        <p:spPr>
          <a:xfrm>
            <a:off x="361370" y="653530"/>
            <a:ext cx="7999758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Interrupt Handling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20"/>
          <p:cNvSpPr/>
          <p:nvPr/>
        </p:nvSpPr>
        <p:spPr>
          <a:xfrm>
            <a:off x="361370" y="252240"/>
            <a:ext cx="749721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OPERATING SYSTEMS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86" name="Google Shape;286;p20"/>
          <p:cNvCxnSpPr/>
          <p:nvPr/>
        </p:nvCxnSpPr>
        <p:spPr>
          <a:xfrm>
            <a:off x="-8308" y="1316458"/>
            <a:ext cx="8300052" cy="0"/>
          </a:xfrm>
          <a:prstGeom prst="straightConnector1">
            <a:avLst/>
          </a:prstGeom>
          <a:noFill/>
          <a:ln w="38100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87" name="Google Shape;287;p20"/>
          <p:cNvSpPr txBox="1"/>
          <p:nvPr/>
        </p:nvSpPr>
        <p:spPr>
          <a:xfrm>
            <a:off x="361369" y="1475915"/>
            <a:ext cx="7209012" cy="44873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2160"/>
              <a:buFont typeface="Arial"/>
              <a:buChar char="•"/>
            </a:pPr>
            <a:r>
              <a:rPr lang="en-US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 operating system saves the state of the CPU by storing registers and the program counter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50000"/>
              </a:lnSpc>
              <a:spcBef>
                <a:spcPts val="840"/>
              </a:spcBef>
              <a:spcAft>
                <a:spcPts val="0"/>
              </a:spcAft>
              <a:buClr>
                <a:srgbClr val="993300"/>
              </a:buClr>
              <a:buSzPts val="2160"/>
              <a:buFont typeface="Arial"/>
              <a:buChar char="•"/>
            </a:pPr>
            <a:r>
              <a:rPr lang="en-US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Determines which type of interrupt has occurred: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800100" marR="0" lvl="1" indent="-342900" algn="l" rtl="0">
              <a:lnSpc>
                <a:spcPct val="150000"/>
              </a:lnSpc>
              <a:spcBef>
                <a:spcPts val="840"/>
              </a:spcBef>
              <a:spcAft>
                <a:spcPts val="0"/>
              </a:spcAft>
              <a:buClr>
                <a:srgbClr val="CC6600"/>
              </a:buClr>
              <a:buSzPts val="1920"/>
              <a:buFont typeface="Arial"/>
              <a:buChar char="•"/>
            </a:pPr>
            <a:r>
              <a:rPr lang="en-US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polling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800100" marR="0" lvl="1" indent="-342900" algn="l" rtl="0">
              <a:lnSpc>
                <a:spcPct val="150000"/>
              </a:lnSpc>
              <a:spcBef>
                <a:spcPts val="840"/>
              </a:spcBef>
              <a:spcAft>
                <a:spcPts val="0"/>
              </a:spcAft>
              <a:buClr>
                <a:srgbClr val="CC6600"/>
              </a:buClr>
              <a:buSzPts val="1920"/>
              <a:buFont typeface="Arial"/>
              <a:buChar char="•"/>
            </a:pPr>
            <a:r>
              <a:rPr lang="en-US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vectored interrupt system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50000"/>
              </a:lnSpc>
              <a:spcBef>
                <a:spcPts val="840"/>
              </a:spcBef>
              <a:spcAft>
                <a:spcPts val="0"/>
              </a:spcAft>
              <a:buClr>
                <a:srgbClr val="993300"/>
              </a:buClr>
              <a:buSzPts val="2160"/>
              <a:buFont typeface="Arial"/>
              <a:buChar char="•"/>
            </a:pPr>
            <a:r>
              <a:rPr lang="en-US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Separate segments of code determine what action should be taken for each type of interrupt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8" name="Google Shape;288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94526" y="2029025"/>
            <a:ext cx="4255376" cy="4622582"/>
          </a:xfrm>
          <a:prstGeom prst="rect">
            <a:avLst/>
          </a:prstGeom>
          <a:noFill/>
          <a:ln>
            <a:noFill/>
          </a:ln>
        </p:spPr>
      </p:pic>
      <p:pic>
        <p:nvPicPr>
          <p:cNvPr id="289" name="Google Shape;289;p2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690975" y="0"/>
            <a:ext cx="1066900" cy="19754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21"/>
          <p:cNvSpPr/>
          <p:nvPr/>
        </p:nvSpPr>
        <p:spPr>
          <a:xfrm>
            <a:off x="361370" y="653530"/>
            <a:ext cx="7999758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Interrupt Timeline for a single process doing output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21"/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OPERATING SYSTEMS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97" name="Google Shape;297;p21"/>
          <p:cNvCxnSpPr/>
          <p:nvPr/>
        </p:nvCxnSpPr>
        <p:spPr>
          <a:xfrm>
            <a:off x="-8308" y="1316458"/>
            <a:ext cx="8300052" cy="0"/>
          </a:xfrm>
          <a:prstGeom prst="straightConnector1">
            <a:avLst/>
          </a:prstGeom>
          <a:noFill/>
          <a:ln w="38100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98" name="Google Shape;298;p21"/>
          <p:cNvSpPr/>
          <p:nvPr/>
        </p:nvSpPr>
        <p:spPr>
          <a:xfrm>
            <a:off x="5181600" y="1480579"/>
            <a:ext cx="914400" cy="6584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99" name="Google Shape;299;p21"/>
          <p:cNvGrpSpPr/>
          <p:nvPr/>
        </p:nvGrpSpPr>
        <p:grpSpPr>
          <a:xfrm>
            <a:off x="739025" y="2024378"/>
            <a:ext cx="6805386" cy="4362228"/>
            <a:chOff x="739025" y="2101498"/>
            <a:chExt cx="6805386" cy="4362228"/>
          </a:xfrm>
        </p:grpSpPr>
        <p:pic>
          <p:nvPicPr>
            <p:cNvPr id="300" name="Google Shape;300;p21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739025" y="2827217"/>
              <a:ext cx="6805386" cy="363650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1" name="Google Shape;301;p21"/>
            <p:cNvSpPr/>
            <p:nvPr/>
          </p:nvSpPr>
          <p:spPr>
            <a:xfrm>
              <a:off x="4712367" y="2130805"/>
              <a:ext cx="1499937" cy="914400"/>
            </a:xfrm>
            <a:prstGeom prst="roundRect">
              <a:avLst>
                <a:gd name="adj" fmla="val 16667"/>
              </a:avLst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2" name="Google Shape;302;p21"/>
            <p:cNvSpPr txBox="1"/>
            <p:nvPr/>
          </p:nvSpPr>
          <p:spPr>
            <a:xfrm>
              <a:off x="4810933" y="2101498"/>
              <a:ext cx="1499936" cy="9233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Interrupt processing times vary..</a:t>
              </a: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303" name="Google Shape;303;p21"/>
            <p:cNvCxnSpPr>
              <a:stCxn id="301" idx="1"/>
            </p:cNvCxnSpPr>
            <p:nvPr/>
          </p:nvCxnSpPr>
          <p:spPr>
            <a:xfrm flipH="1">
              <a:off x="4395567" y="2588005"/>
              <a:ext cx="316800" cy="840900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cxnSp>
          <p:nvCxnSpPr>
            <p:cNvPr id="304" name="Google Shape;304;p21"/>
            <p:cNvCxnSpPr/>
            <p:nvPr/>
          </p:nvCxnSpPr>
          <p:spPr>
            <a:xfrm>
              <a:off x="6212304" y="2502842"/>
              <a:ext cx="316830" cy="926158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sp>
          <p:nvSpPr>
            <p:cNvPr id="305" name="Google Shape;305;p21"/>
            <p:cNvSpPr txBox="1"/>
            <p:nvPr/>
          </p:nvSpPr>
          <p:spPr>
            <a:xfrm>
              <a:off x="3802283" y="4115884"/>
              <a:ext cx="1820168" cy="6463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..and so do I/O transfer times </a:t>
              </a: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6" name="Google Shape;306;p21"/>
            <p:cNvSpPr/>
            <p:nvPr/>
          </p:nvSpPr>
          <p:spPr>
            <a:xfrm>
              <a:off x="3812461" y="4115884"/>
              <a:ext cx="1499937" cy="687896"/>
            </a:xfrm>
            <a:prstGeom prst="roundRect">
              <a:avLst>
                <a:gd name="adj" fmla="val 16667"/>
              </a:avLst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307" name="Google Shape;307;p21"/>
            <p:cNvCxnSpPr/>
            <p:nvPr/>
          </p:nvCxnSpPr>
          <p:spPr>
            <a:xfrm flipH="1">
              <a:off x="3502408" y="4397912"/>
              <a:ext cx="310054" cy="520854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cxnSp>
          <p:nvCxnSpPr>
            <p:cNvPr id="308" name="Google Shape;308;p21"/>
            <p:cNvCxnSpPr/>
            <p:nvPr/>
          </p:nvCxnSpPr>
          <p:spPr>
            <a:xfrm>
              <a:off x="5312398" y="4347089"/>
              <a:ext cx="454736" cy="578117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stealth" w="med" len="med"/>
            </a:ln>
          </p:spPr>
        </p:cxnSp>
      </p:grpSp>
      <p:pic>
        <p:nvPicPr>
          <p:cNvPr id="309" name="Google Shape;309;p2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568325" y="621375"/>
            <a:ext cx="1066900" cy="19754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22"/>
          <p:cNvSpPr/>
          <p:nvPr/>
        </p:nvSpPr>
        <p:spPr>
          <a:xfrm>
            <a:off x="361370" y="653530"/>
            <a:ext cx="7999758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Storage Structure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22"/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OPERATING SYSTEMS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7" name="Google Shape;317;p22"/>
          <p:cNvCxnSpPr/>
          <p:nvPr/>
        </p:nvCxnSpPr>
        <p:spPr>
          <a:xfrm>
            <a:off x="-8308" y="1316458"/>
            <a:ext cx="8300052" cy="0"/>
          </a:xfrm>
          <a:prstGeom prst="straightConnector1">
            <a:avLst/>
          </a:prstGeom>
          <a:noFill/>
          <a:ln w="38100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18" name="Google Shape;318;p22"/>
          <p:cNvSpPr txBox="1"/>
          <p:nvPr/>
        </p:nvSpPr>
        <p:spPr>
          <a:xfrm>
            <a:off x="163286" y="1516485"/>
            <a:ext cx="8572500" cy="38195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2160"/>
              <a:buFont typeface="Arial"/>
              <a:buChar char="•"/>
            </a:pPr>
            <a:r>
              <a:rPr lang="en-US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Main memory – only large storage media that the CPU can access directly (</a:t>
            </a:r>
            <a:r>
              <a:rPr lang="en-US" sz="2400" b="1" i="0" u="none" strike="noStrike" cap="none">
                <a:solidFill>
                  <a:srgbClr val="3366FF"/>
                </a:solidFill>
                <a:latin typeface="Calibri"/>
                <a:ea typeface="Calibri"/>
                <a:cs typeface="Calibri"/>
                <a:sym typeface="Calibri"/>
              </a:rPr>
              <a:t>Random</a:t>
            </a:r>
            <a:r>
              <a:rPr lang="en-US" sz="2400" b="0" i="0" u="none" strike="noStrike" cap="non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b="1" i="0" u="none" strike="noStrike" cap="none">
                <a:solidFill>
                  <a:srgbClr val="3366FF"/>
                </a:solidFill>
                <a:latin typeface="Calibri"/>
                <a:ea typeface="Calibri"/>
                <a:cs typeface="Calibri"/>
                <a:sym typeface="Calibri"/>
              </a:rPr>
              <a:t>access  memory </a:t>
            </a: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and</a:t>
            </a:r>
            <a:r>
              <a:rPr lang="en-US" sz="2400" b="1" i="0" u="none" strike="noStrike" cap="none">
                <a:solidFill>
                  <a:srgbClr val="3366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typically </a:t>
            </a:r>
            <a:r>
              <a:rPr lang="en-US" sz="2400" b="1" i="0" u="none" strike="noStrike" cap="none">
                <a:solidFill>
                  <a:srgbClr val="3366FF"/>
                </a:solidFill>
                <a:latin typeface="Calibri"/>
                <a:ea typeface="Calibri"/>
                <a:cs typeface="Calibri"/>
                <a:sym typeface="Calibri"/>
              </a:rPr>
              <a:t>volatile)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800100" marR="0" lvl="1" indent="-342900" algn="l" rtl="0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993300"/>
              </a:buClr>
              <a:buSzPts val="1800"/>
              <a:buFont typeface="Arial"/>
              <a:buChar char="•"/>
            </a:pPr>
            <a:r>
              <a:rPr lang="en-US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Implemented with semiconductor technology called DRAM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50000"/>
              </a:lnSpc>
              <a:spcBef>
                <a:spcPts val="840"/>
              </a:spcBef>
              <a:spcAft>
                <a:spcPts val="0"/>
              </a:spcAft>
              <a:buClr>
                <a:srgbClr val="993300"/>
              </a:buClr>
              <a:buSzPts val="2160"/>
              <a:buFont typeface="Arial"/>
              <a:buChar char="•"/>
            </a:pPr>
            <a:r>
              <a:rPr lang="en-US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Computers use other forms of memory like ROM, EEPROM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50000"/>
              </a:lnSpc>
              <a:spcBef>
                <a:spcPts val="840"/>
              </a:spcBef>
              <a:spcAft>
                <a:spcPts val="0"/>
              </a:spcAft>
              <a:buClr>
                <a:srgbClr val="993300"/>
              </a:buClr>
              <a:buSzPts val="2160"/>
              <a:buFont typeface="Arial"/>
              <a:buChar char="•"/>
            </a:pPr>
            <a:r>
              <a:rPr lang="en-US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Smart phones have EEPROM to store factory installed programs.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205740" algn="l" rtl="0">
              <a:lnSpc>
                <a:spcPct val="150000"/>
              </a:lnSpc>
              <a:spcBef>
                <a:spcPts val="840"/>
              </a:spcBef>
              <a:spcAft>
                <a:spcPts val="0"/>
              </a:spcAft>
              <a:buClr>
                <a:srgbClr val="993300"/>
              </a:buClr>
              <a:buSzPts val="2160"/>
              <a:buFont typeface="Arial"/>
              <a:buNone/>
            </a:pPr>
            <a:endParaRPr sz="2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9" name="Google Shape;319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568325" y="621375"/>
            <a:ext cx="1066900" cy="19754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3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3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3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3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23"/>
          <p:cNvSpPr/>
          <p:nvPr/>
        </p:nvSpPr>
        <p:spPr>
          <a:xfrm>
            <a:off x="361370" y="653530"/>
            <a:ext cx="7999758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Program Execution Model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23"/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OPERATING SYSTEMS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27" name="Google Shape;327;p23"/>
          <p:cNvCxnSpPr/>
          <p:nvPr/>
        </p:nvCxnSpPr>
        <p:spPr>
          <a:xfrm>
            <a:off x="-8308" y="1316458"/>
            <a:ext cx="8300052" cy="0"/>
          </a:xfrm>
          <a:prstGeom prst="straightConnector1">
            <a:avLst/>
          </a:prstGeom>
          <a:noFill/>
          <a:ln w="38100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28" name="Google Shape;328;p23"/>
          <p:cNvSpPr txBox="1"/>
          <p:nvPr/>
        </p:nvSpPr>
        <p:spPr>
          <a:xfrm>
            <a:off x="253457" y="1345818"/>
            <a:ext cx="7563715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•"/>
            </a:pPr>
            <a:r>
              <a:rPr lang="en-US" sz="22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Typical instruction execution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23"/>
          <p:cNvSpPr txBox="1"/>
          <p:nvPr/>
        </p:nvSpPr>
        <p:spPr>
          <a:xfrm>
            <a:off x="527940" y="3954448"/>
            <a:ext cx="9422576" cy="21236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•"/>
            </a:pPr>
            <a:r>
              <a:rPr lang="en-US" sz="22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 processor </a:t>
            </a:r>
            <a:r>
              <a:rPr lang="en-US" sz="2200" b="0" i="0" u="none" strike="noStrike" cap="none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fetches</a:t>
            </a:r>
            <a:r>
              <a:rPr lang="en-US" sz="22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instructions from memory, </a:t>
            </a:r>
            <a:r>
              <a:rPr lang="en-US" sz="2200" b="0" i="0" u="none" strike="noStrike" cap="none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decodes</a:t>
            </a:r>
            <a:r>
              <a:rPr lang="en-US" sz="22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lang="en-US" sz="2200" b="0" i="0" u="none" strike="noStrike" cap="none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executes</a:t>
            </a:r>
            <a:r>
              <a:rPr lang="en-US" sz="22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them.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•"/>
            </a:pPr>
            <a:r>
              <a:rPr lang="en-US" sz="22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 Fetch, Decode and Execute cycles are repeated until the program terminates.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•"/>
            </a:pPr>
            <a:r>
              <a:rPr lang="en-US" sz="22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This is called the </a:t>
            </a:r>
            <a:r>
              <a:rPr lang="en-US" sz="2200" b="0" i="0" u="none" strike="noStrike" cap="none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Von Neumann</a:t>
            </a:r>
            <a:r>
              <a:rPr lang="en-US" sz="22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model of computing.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0" name="Google Shape;330;p23" descr="The machine instruction cycle - Computer Science Wiki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04998" y="1880654"/>
            <a:ext cx="3730128" cy="2005243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23"/>
          <p:cNvSpPr txBox="1"/>
          <p:nvPr/>
        </p:nvSpPr>
        <p:spPr>
          <a:xfrm>
            <a:off x="251957" y="6550223"/>
            <a:ext cx="8218583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Image source :https://computersciencewiki.org/</a:t>
            </a:r>
            <a:r>
              <a:rPr lang="en-US" sz="14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index.php</a:t>
            </a:r>
            <a:r>
              <a:rPr lang="en-US" sz="1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</a:t>
            </a:r>
            <a:r>
              <a:rPr lang="en-US" sz="14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The_machine_instruction_cycle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2" name="Google Shape;332;p2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568325" y="621375"/>
            <a:ext cx="1066900" cy="19754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24"/>
          <p:cNvSpPr/>
          <p:nvPr/>
        </p:nvSpPr>
        <p:spPr>
          <a:xfrm>
            <a:off x="361370" y="653530"/>
            <a:ext cx="7999758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Storage Structure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24"/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OPERATING SYSTEMS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40" name="Google Shape;340;p24"/>
          <p:cNvCxnSpPr/>
          <p:nvPr/>
        </p:nvCxnSpPr>
        <p:spPr>
          <a:xfrm>
            <a:off x="-8308" y="1316458"/>
            <a:ext cx="8300052" cy="0"/>
          </a:xfrm>
          <a:prstGeom prst="straightConnector1">
            <a:avLst/>
          </a:prstGeom>
          <a:noFill/>
          <a:ln w="38100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41" name="Google Shape;341;p24"/>
          <p:cNvSpPr txBox="1"/>
          <p:nvPr/>
        </p:nvSpPr>
        <p:spPr>
          <a:xfrm>
            <a:off x="163285" y="1516485"/>
            <a:ext cx="10496234" cy="4431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1800"/>
              <a:buFont typeface="Arial"/>
              <a:buChar char="•"/>
            </a:pPr>
            <a:r>
              <a:rPr lang="en-US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Secondary storage – extension of main memory that provides large </a:t>
            </a:r>
            <a:r>
              <a:rPr lang="en-US" sz="2000" b="1" i="0" u="none" strike="noStrike" cap="none">
                <a:solidFill>
                  <a:srgbClr val="3366FF"/>
                </a:solidFill>
                <a:latin typeface="Calibri"/>
                <a:ea typeface="Calibri"/>
                <a:cs typeface="Calibri"/>
                <a:sym typeface="Calibri"/>
              </a:rPr>
              <a:t>nonvolatile</a:t>
            </a:r>
            <a:r>
              <a:rPr lang="en-US" sz="2000" b="0" i="0" u="none" strike="noStrike" cap="non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storage capacity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993300"/>
              </a:buClr>
              <a:buSzPts val="1800"/>
              <a:buFont typeface="Arial"/>
              <a:buChar char="•"/>
            </a:pPr>
            <a:r>
              <a:rPr lang="en-US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Hard disks – rigid metal or glass platters covered with magnetic recording material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800100" marR="0" lvl="1" indent="-342900" algn="l" rtl="0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CC6600"/>
              </a:buClr>
              <a:buSzPts val="1600"/>
              <a:buFont typeface="Arial"/>
              <a:buChar char="•"/>
            </a:pPr>
            <a:r>
              <a:rPr lang="en-US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Disk surface is logically divided into </a:t>
            </a:r>
            <a:r>
              <a:rPr lang="en-US" sz="2000" b="1" i="0" u="none" strike="noStrike" cap="none">
                <a:solidFill>
                  <a:srgbClr val="3366FF"/>
                </a:solidFill>
                <a:latin typeface="Calibri"/>
                <a:ea typeface="Calibri"/>
                <a:cs typeface="Calibri"/>
                <a:sym typeface="Calibri"/>
              </a:rPr>
              <a:t>tracks</a:t>
            </a:r>
            <a:r>
              <a:rPr lang="en-US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which are subdivided into </a:t>
            </a:r>
            <a:r>
              <a:rPr lang="en-US" sz="2000" b="1" i="0" u="none" strike="noStrike" cap="none">
                <a:solidFill>
                  <a:srgbClr val="3366FF"/>
                </a:solidFill>
                <a:latin typeface="Calibri"/>
                <a:ea typeface="Calibri"/>
                <a:cs typeface="Calibri"/>
                <a:sym typeface="Calibri"/>
              </a:rPr>
              <a:t>sectors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800100" marR="0" lvl="1" indent="-342900" algn="l" rtl="0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CC6600"/>
              </a:buClr>
              <a:buSzPts val="1600"/>
              <a:buFont typeface="Arial"/>
              <a:buChar char="•"/>
            </a:pPr>
            <a:r>
              <a:rPr lang="en-US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 </a:t>
            </a:r>
            <a:r>
              <a:rPr lang="en-US" sz="2000" b="1" i="0" u="none" strike="noStrike" cap="none">
                <a:solidFill>
                  <a:srgbClr val="3366FF"/>
                </a:solidFill>
                <a:latin typeface="Calibri"/>
                <a:ea typeface="Calibri"/>
                <a:cs typeface="Calibri"/>
                <a:sym typeface="Calibri"/>
              </a:rPr>
              <a:t>disk controller </a:t>
            </a:r>
            <a:r>
              <a:rPr lang="en-US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determines the logical interaction between the device and the computer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993300"/>
              </a:buClr>
              <a:buSzPts val="1800"/>
              <a:buFont typeface="Arial"/>
              <a:buChar char="•"/>
            </a:pPr>
            <a:r>
              <a:rPr lang="en-US" sz="2000" b="1" i="0" u="none" strike="noStrike" cap="none">
                <a:solidFill>
                  <a:srgbClr val="3366FF"/>
                </a:solidFill>
                <a:latin typeface="Calibri"/>
                <a:ea typeface="Calibri"/>
                <a:cs typeface="Calibri"/>
                <a:sym typeface="Calibri"/>
              </a:rPr>
              <a:t>Solid-state disks </a:t>
            </a:r>
            <a:r>
              <a:rPr lang="en-US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– faster than hard disks, nonvolatile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800100" marR="0" lvl="1" indent="-342900" algn="l" rtl="0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CC6600"/>
              </a:buClr>
              <a:buSzPts val="1600"/>
              <a:buFont typeface="Arial"/>
              <a:buChar char="•"/>
            </a:pPr>
            <a:r>
              <a:rPr lang="en-US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Various technologies and becoming more popular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800100" marR="0" lvl="1" indent="-342900" algn="l" rtl="0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CC6600"/>
              </a:buClr>
              <a:buSzPts val="1600"/>
              <a:buFont typeface="Arial"/>
              <a:buChar char="•"/>
            </a:pPr>
            <a:r>
              <a:rPr lang="en-US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Flash memory used in camera’s PDA’s</a:t>
            </a:r>
            <a:endParaRPr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42" name="Google Shape;342;p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568325" y="621375"/>
            <a:ext cx="1066900" cy="19754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3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3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34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34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34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34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25"/>
          <p:cNvSpPr/>
          <p:nvPr/>
        </p:nvSpPr>
        <p:spPr>
          <a:xfrm>
            <a:off x="361370" y="653530"/>
            <a:ext cx="7999758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Storage Hierarchy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p25"/>
          <p:cNvSpPr/>
          <p:nvPr/>
        </p:nvSpPr>
        <p:spPr>
          <a:xfrm>
            <a:off x="361370" y="252240"/>
            <a:ext cx="749721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OPERATING SYSTEMS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50" name="Google Shape;350;p25"/>
          <p:cNvCxnSpPr/>
          <p:nvPr/>
        </p:nvCxnSpPr>
        <p:spPr>
          <a:xfrm>
            <a:off x="-8308" y="1316458"/>
            <a:ext cx="8300052" cy="0"/>
          </a:xfrm>
          <a:prstGeom prst="straightConnector1">
            <a:avLst/>
          </a:prstGeom>
          <a:noFill/>
          <a:ln w="38100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51" name="Google Shape;351;p25"/>
          <p:cNvSpPr txBox="1"/>
          <p:nvPr/>
        </p:nvSpPr>
        <p:spPr>
          <a:xfrm>
            <a:off x="361370" y="1428637"/>
            <a:ext cx="9782246" cy="39333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2160"/>
              <a:buFont typeface="Arial"/>
              <a:buChar char="•"/>
            </a:pPr>
            <a:r>
              <a:rPr lang="en-US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Storage systems organized in hierarchy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800100" marR="0" lvl="1" indent="-342900" algn="l" rtl="0">
              <a:lnSpc>
                <a:spcPct val="150000"/>
              </a:lnSpc>
              <a:spcBef>
                <a:spcPts val="840"/>
              </a:spcBef>
              <a:spcAft>
                <a:spcPts val="0"/>
              </a:spcAft>
              <a:buClr>
                <a:srgbClr val="CC6600"/>
              </a:buClr>
              <a:buSzPts val="1920"/>
              <a:buFont typeface="Arial"/>
              <a:buChar char="•"/>
            </a:pPr>
            <a:r>
              <a:rPr lang="en-US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Speed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800100" marR="0" lvl="1" indent="-342900" algn="l" rtl="0">
              <a:lnSpc>
                <a:spcPct val="150000"/>
              </a:lnSpc>
              <a:spcBef>
                <a:spcPts val="840"/>
              </a:spcBef>
              <a:spcAft>
                <a:spcPts val="0"/>
              </a:spcAft>
              <a:buClr>
                <a:srgbClr val="CC6600"/>
              </a:buClr>
              <a:buSzPts val="1920"/>
              <a:buFont typeface="Arial"/>
              <a:buChar char="•"/>
            </a:pPr>
            <a:r>
              <a:rPr lang="en-US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Cost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800100" marR="0" lvl="1" indent="-342900" algn="l" rtl="0">
              <a:lnSpc>
                <a:spcPct val="150000"/>
              </a:lnSpc>
              <a:spcBef>
                <a:spcPts val="840"/>
              </a:spcBef>
              <a:spcAft>
                <a:spcPts val="0"/>
              </a:spcAft>
              <a:buClr>
                <a:srgbClr val="CC6600"/>
              </a:buClr>
              <a:buSzPts val="1920"/>
              <a:buFont typeface="Arial"/>
              <a:buChar char="•"/>
            </a:pPr>
            <a:r>
              <a:rPr lang="en-US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Volatility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50000"/>
              </a:lnSpc>
              <a:spcBef>
                <a:spcPts val="840"/>
              </a:spcBef>
              <a:spcAft>
                <a:spcPts val="0"/>
              </a:spcAft>
              <a:buClr>
                <a:srgbClr val="993300"/>
              </a:buClr>
              <a:buSzPts val="2160"/>
              <a:buFont typeface="Arial"/>
              <a:buChar char="•"/>
            </a:pPr>
            <a:r>
              <a:rPr lang="en-US" sz="2400" b="1" i="0" u="none" strike="noStrike" cap="none">
                <a:solidFill>
                  <a:srgbClr val="3366FF"/>
                </a:solidFill>
                <a:latin typeface="Calibri"/>
                <a:ea typeface="Calibri"/>
                <a:cs typeface="Calibri"/>
                <a:sym typeface="Calibri"/>
              </a:rPr>
              <a:t>Caching</a:t>
            </a:r>
            <a:r>
              <a:rPr lang="en-US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– copying information into faster storage system; main memory can be viewed as a cache for secondary storage</a:t>
            </a:r>
            <a:endParaRPr sz="2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52" name="Google Shape;352;p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568325" y="621375"/>
            <a:ext cx="1066900" cy="19754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26"/>
          <p:cNvSpPr/>
          <p:nvPr/>
        </p:nvSpPr>
        <p:spPr>
          <a:xfrm>
            <a:off x="361370" y="653530"/>
            <a:ext cx="7999758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Storage-Device Hierarchy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26"/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OPERATING SYSTEMS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60" name="Google Shape;360;p26"/>
          <p:cNvCxnSpPr/>
          <p:nvPr/>
        </p:nvCxnSpPr>
        <p:spPr>
          <a:xfrm>
            <a:off x="-8308" y="1316458"/>
            <a:ext cx="8300052" cy="0"/>
          </a:xfrm>
          <a:prstGeom prst="straightConnector1">
            <a:avLst/>
          </a:prstGeom>
          <a:noFill/>
          <a:ln w="38100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362" name="Google Shape;362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605760"/>
            <a:ext cx="3005588" cy="28044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3" name="Google Shape;363;p2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568325" y="621375"/>
            <a:ext cx="1066900" cy="1975454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" y="1536526"/>
            <a:ext cx="7831767" cy="4869759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27"/>
          <p:cNvSpPr/>
          <p:nvPr/>
        </p:nvSpPr>
        <p:spPr>
          <a:xfrm>
            <a:off x="361370" y="653530"/>
            <a:ext cx="7999758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Caching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27"/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OPERATING SYSTEMS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71" name="Google Shape;371;p27"/>
          <p:cNvCxnSpPr/>
          <p:nvPr/>
        </p:nvCxnSpPr>
        <p:spPr>
          <a:xfrm>
            <a:off x="-8308" y="1316458"/>
            <a:ext cx="8300052" cy="0"/>
          </a:xfrm>
          <a:prstGeom prst="straightConnector1">
            <a:avLst/>
          </a:prstGeom>
          <a:noFill/>
          <a:ln w="38100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72" name="Google Shape;372;p27"/>
          <p:cNvSpPr txBox="1"/>
          <p:nvPr/>
        </p:nvSpPr>
        <p:spPr>
          <a:xfrm>
            <a:off x="151529" y="1316458"/>
            <a:ext cx="10347411" cy="59259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2160"/>
              <a:buFont typeface="Arial"/>
              <a:buChar char="•"/>
            </a:pPr>
            <a:r>
              <a:rPr lang="en-US" sz="24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Important principle, performed at many levels in a computer (in hardware, operating system, software)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50000"/>
              </a:lnSpc>
              <a:spcBef>
                <a:spcPts val="840"/>
              </a:spcBef>
              <a:spcAft>
                <a:spcPts val="0"/>
              </a:spcAft>
              <a:buClr>
                <a:srgbClr val="993300"/>
              </a:buClr>
              <a:buSzPts val="2160"/>
              <a:buFont typeface="Arial"/>
              <a:buChar char="•"/>
            </a:pPr>
            <a:r>
              <a:rPr lang="en-US" sz="24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Information in use copied from slower to faster storage temporarily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50000"/>
              </a:lnSpc>
              <a:spcBef>
                <a:spcPts val="840"/>
              </a:spcBef>
              <a:spcAft>
                <a:spcPts val="0"/>
              </a:spcAft>
              <a:buClr>
                <a:srgbClr val="993300"/>
              </a:buClr>
              <a:buSzPts val="2160"/>
              <a:buFont typeface="Arial"/>
              <a:buChar char="•"/>
            </a:pPr>
            <a:r>
              <a:rPr lang="en-US" sz="24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Faster storage (cache) checked first to determine if information is there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800100" marR="0" lvl="1" indent="-342900" algn="l" rtl="0">
              <a:lnSpc>
                <a:spcPct val="150000"/>
              </a:lnSpc>
              <a:spcBef>
                <a:spcPts val="840"/>
              </a:spcBef>
              <a:spcAft>
                <a:spcPts val="0"/>
              </a:spcAft>
              <a:buClr>
                <a:srgbClr val="CC6600"/>
              </a:buClr>
              <a:buSzPts val="1920"/>
              <a:buFont typeface="Arial"/>
              <a:buChar char="•"/>
            </a:pPr>
            <a:r>
              <a:rPr lang="en-US" sz="24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If it is, information used directly from the cache (fast)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800100" marR="0" lvl="1" indent="-342900" algn="l" rtl="0">
              <a:lnSpc>
                <a:spcPct val="150000"/>
              </a:lnSpc>
              <a:spcBef>
                <a:spcPts val="840"/>
              </a:spcBef>
              <a:spcAft>
                <a:spcPts val="0"/>
              </a:spcAft>
              <a:buClr>
                <a:srgbClr val="CC6600"/>
              </a:buClr>
              <a:buSzPts val="1920"/>
              <a:buFont typeface="Arial"/>
              <a:buChar char="•"/>
            </a:pPr>
            <a:r>
              <a:rPr lang="en-US" sz="24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If not, data copied to cache and used there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50000"/>
              </a:lnSpc>
              <a:spcBef>
                <a:spcPts val="840"/>
              </a:spcBef>
              <a:spcAft>
                <a:spcPts val="0"/>
              </a:spcAft>
              <a:buClr>
                <a:srgbClr val="993300"/>
              </a:buClr>
              <a:buSzPts val="2160"/>
              <a:buFont typeface="Arial"/>
              <a:buChar char="•"/>
            </a:pPr>
            <a:r>
              <a:rPr lang="en-US" sz="24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Cache smaller than storage being cached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800100" marR="0" lvl="1" indent="-342900" algn="l" rtl="0">
              <a:lnSpc>
                <a:spcPct val="150000"/>
              </a:lnSpc>
              <a:spcBef>
                <a:spcPts val="840"/>
              </a:spcBef>
              <a:spcAft>
                <a:spcPts val="0"/>
              </a:spcAft>
              <a:buClr>
                <a:srgbClr val="CC6600"/>
              </a:buClr>
              <a:buSzPts val="1920"/>
              <a:buFont typeface="Arial"/>
              <a:buChar char="•"/>
            </a:pPr>
            <a:r>
              <a:rPr lang="en-US" sz="24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Cache management important design problem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800100" marR="0" lvl="1" indent="-342900" algn="l" rtl="0">
              <a:lnSpc>
                <a:spcPct val="150000"/>
              </a:lnSpc>
              <a:spcBef>
                <a:spcPts val="840"/>
              </a:spcBef>
              <a:spcAft>
                <a:spcPts val="0"/>
              </a:spcAft>
              <a:buClr>
                <a:srgbClr val="CC6600"/>
              </a:buClr>
              <a:buSzPts val="1920"/>
              <a:buFont typeface="Arial"/>
              <a:buChar char="•"/>
            </a:pPr>
            <a:r>
              <a:rPr lang="en-US" sz="24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Cache size and replacement policy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73" name="Google Shape;373;p2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568325" y="621375"/>
            <a:ext cx="1066900" cy="19754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3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3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3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37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37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37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/>
                                        <p:tgtEl>
                                          <p:spTgt spid="37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28"/>
          <p:cNvSpPr/>
          <p:nvPr/>
        </p:nvSpPr>
        <p:spPr>
          <a:xfrm>
            <a:off x="195943" y="653530"/>
            <a:ext cx="7999758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1" i="0" u="none" strike="noStrike" cap="none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I/O Structure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p28"/>
          <p:cNvSpPr/>
          <p:nvPr/>
        </p:nvSpPr>
        <p:spPr>
          <a:xfrm>
            <a:off x="195943" y="252240"/>
            <a:ext cx="7497214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1" i="0" u="none" strike="noStrike" cap="none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OPERATING SYSTEMS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81" name="Google Shape;381;p28"/>
          <p:cNvCxnSpPr/>
          <p:nvPr/>
        </p:nvCxnSpPr>
        <p:spPr>
          <a:xfrm>
            <a:off x="-8308" y="1316458"/>
            <a:ext cx="8300052" cy="0"/>
          </a:xfrm>
          <a:prstGeom prst="straightConnector1">
            <a:avLst/>
          </a:prstGeom>
          <a:noFill/>
          <a:ln w="38100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82" name="Google Shape;382;p28"/>
          <p:cNvSpPr txBox="1"/>
          <p:nvPr/>
        </p:nvSpPr>
        <p:spPr>
          <a:xfrm>
            <a:off x="195943" y="1527143"/>
            <a:ext cx="9347563" cy="4924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Storage is a type of I/O device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large portion of operating-system code is dedicated to managing I/O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257300" marR="0" lvl="2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 reliability and performance of a system is  the main concern.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General-purpose computer system consists of CPUs and multiple device controllers that are connected through a common bus.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Each device controller is in charge of a specific type of device.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993300"/>
              </a:buClr>
              <a:buSzPts val="1800"/>
              <a:buFont typeface="Arial"/>
              <a:buChar char="•"/>
            </a:pPr>
            <a:r>
              <a:rPr lang="en-US" sz="2000" b="1" i="0" u="none" strike="noStrike" cap="none">
                <a:solidFill>
                  <a:srgbClr val="3366FF"/>
                </a:solidFill>
                <a:latin typeface="Calibri"/>
                <a:ea typeface="Calibri"/>
                <a:cs typeface="Calibri"/>
                <a:sym typeface="Calibri"/>
              </a:rPr>
              <a:t>Device Driver </a:t>
            </a:r>
            <a:r>
              <a:rPr lang="en-US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for each device controller to manage I/O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800100" marR="0" lvl="1" indent="-342900" algn="l" rtl="0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CC6600"/>
              </a:buClr>
              <a:buSzPts val="1600"/>
              <a:buFont typeface="Arial"/>
              <a:buChar char="•"/>
            </a:pPr>
            <a:r>
              <a:rPr lang="en-US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Provides uniform interface between controller and kernel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10DB3"/>
              </a:buClr>
              <a:buSzPts val="2000"/>
              <a:buFont typeface="Arial"/>
              <a:buChar char="•"/>
            </a:pPr>
            <a:r>
              <a:rPr lang="en-US" sz="2000" b="1" i="0" u="none" strike="noStrike" cap="none">
                <a:solidFill>
                  <a:srgbClr val="210DB3"/>
                </a:solidFill>
                <a:latin typeface="Calibri"/>
                <a:ea typeface="Calibri"/>
                <a:cs typeface="Calibri"/>
                <a:sym typeface="Calibri"/>
              </a:rPr>
              <a:t>Small Computer-Systems Interface (SCSI)  </a:t>
            </a: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controller enables to connect more devices.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83" name="Google Shape;383;p2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64178" y="2696175"/>
            <a:ext cx="2743199" cy="28215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84" name="Google Shape;384;p2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568325" y="621375"/>
            <a:ext cx="1066900" cy="19754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29"/>
          <p:cNvSpPr/>
          <p:nvPr/>
        </p:nvSpPr>
        <p:spPr>
          <a:xfrm>
            <a:off x="195943" y="653530"/>
            <a:ext cx="7999758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1" i="0" u="none" strike="noStrike" cap="none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I/O Structure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" name="Google Shape;391;p29"/>
          <p:cNvSpPr/>
          <p:nvPr/>
        </p:nvSpPr>
        <p:spPr>
          <a:xfrm>
            <a:off x="195943" y="252240"/>
            <a:ext cx="7497214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1" i="0" u="none" strike="noStrike" cap="none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OPERATING SYSTEMS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92" name="Google Shape;392;p29"/>
          <p:cNvCxnSpPr/>
          <p:nvPr/>
        </p:nvCxnSpPr>
        <p:spPr>
          <a:xfrm>
            <a:off x="-8308" y="1316458"/>
            <a:ext cx="8300052" cy="0"/>
          </a:xfrm>
          <a:prstGeom prst="straightConnector1">
            <a:avLst/>
          </a:prstGeom>
          <a:noFill/>
          <a:ln w="38100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93" name="Google Shape;393;p29"/>
          <p:cNvSpPr txBox="1"/>
          <p:nvPr/>
        </p:nvSpPr>
        <p:spPr>
          <a:xfrm>
            <a:off x="195943" y="1484111"/>
            <a:ext cx="10203980" cy="23083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lang="en-US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device controller maintains some local buffer storage and a set of special-purpose registers.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The device controller is responsible for moving the data between the peripheral devices.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94" name="Google Shape;394;p2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20725" y="773775"/>
            <a:ext cx="1066900" cy="19754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30"/>
          <p:cNvSpPr/>
          <p:nvPr/>
        </p:nvSpPr>
        <p:spPr>
          <a:xfrm>
            <a:off x="195943" y="653530"/>
            <a:ext cx="7999758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I/O Structure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1" name="Google Shape;401;p30"/>
          <p:cNvSpPr/>
          <p:nvPr/>
        </p:nvSpPr>
        <p:spPr>
          <a:xfrm>
            <a:off x="195943" y="252240"/>
            <a:ext cx="749721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OPERATING SYSTEMS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02" name="Google Shape;402;p30"/>
          <p:cNvCxnSpPr/>
          <p:nvPr/>
        </p:nvCxnSpPr>
        <p:spPr>
          <a:xfrm>
            <a:off x="-8308" y="1316458"/>
            <a:ext cx="8300052" cy="0"/>
          </a:xfrm>
          <a:prstGeom prst="straightConnector1">
            <a:avLst/>
          </a:prstGeom>
          <a:noFill/>
          <a:ln w="38100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403" name="Google Shape;403;p30"/>
          <p:cNvSpPr txBox="1"/>
          <p:nvPr/>
        </p:nvSpPr>
        <p:spPr>
          <a:xfrm>
            <a:off x="195942" y="1323518"/>
            <a:ext cx="10930375" cy="50013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1800"/>
              <a:buFont typeface="Arial"/>
              <a:buChar char="•"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After I/O starts, control returns to user program only upon I/O completion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800100" marR="0" lvl="1" indent="-342900" algn="l" rtl="0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CC6600"/>
              </a:buClr>
              <a:buSzPts val="1600"/>
              <a:buFont typeface="Arial"/>
              <a:buChar char="•"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Wait instruction idles the CPU until the next interrupt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800100" marR="0" lvl="1" indent="-342900" algn="l" rtl="0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CC6600"/>
              </a:buClr>
              <a:buSzPts val="1600"/>
              <a:buFont typeface="Arial"/>
              <a:buChar char="•"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Wait loop (contention for memory access)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800100" marR="0" lvl="1" indent="-342900" algn="l" rtl="0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CC6600"/>
              </a:buClr>
              <a:buSzPts val="1600"/>
              <a:buFont typeface="Arial"/>
              <a:buChar char="•"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At most one I/O request is outstanding at a time, no simultaneous I/O processing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993300"/>
              </a:buClr>
              <a:buSzPts val="1800"/>
              <a:buFont typeface="Arial"/>
              <a:buChar char="•"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After I/O starts, control returns to user program without waiting for I/O completion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800100" marR="0" lvl="1" indent="-342900" algn="l" rtl="0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CC6600"/>
              </a:buClr>
              <a:buSzPts val="1600"/>
              <a:buFont typeface="Arial"/>
              <a:buChar char="•"/>
            </a:pPr>
            <a:r>
              <a:rPr lang="en-US" sz="2000" b="1" i="0" u="none" strike="noStrike" cap="none" dirty="0">
                <a:solidFill>
                  <a:srgbClr val="3366FF"/>
                </a:solidFill>
                <a:latin typeface="Calibri"/>
                <a:ea typeface="Calibri"/>
                <a:cs typeface="Calibri"/>
                <a:sym typeface="Calibri"/>
              </a:rPr>
              <a:t>System call 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– request to the OS to allow user to wait for I/O completion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800100" marR="0" lvl="1" indent="-342900" algn="l" rtl="0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CC6600"/>
              </a:buClr>
              <a:buSzPts val="1600"/>
              <a:buFont typeface="Arial"/>
              <a:buChar char="•"/>
            </a:pPr>
            <a:r>
              <a:rPr lang="en-US" sz="2000" b="1" i="0" u="none" strike="noStrike" cap="none" dirty="0">
                <a:solidFill>
                  <a:srgbClr val="3366FF"/>
                </a:solidFill>
                <a:latin typeface="Calibri"/>
                <a:ea typeface="Calibri"/>
                <a:cs typeface="Calibri"/>
                <a:sym typeface="Calibri"/>
              </a:rPr>
              <a:t>Device-status table 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contains entry for each I/O device indicating its type, address, and state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800100" marR="0" lvl="1" indent="-342900" algn="l" rtl="0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CC6600"/>
              </a:buClr>
              <a:buSzPts val="1600"/>
              <a:buFont typeface="Arial"/>
              <a:buChar char="•"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OS indexes into I/O device table to determine device status and to modify table entry to include interrupt.</a:t>
            </a:r>
            <a:endParaRPr sz="20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04" name="Google Shape;404;p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568325" y="621375"/>
            <a:ext cx="1066900" cy="19754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31"/>
          <p:cNvSpPr/>
          <p:nvPr/>
        </p:nvSpPr>
        <p:spPr>
          <a:xfrm>
            <a:off x="361370" y="653530"/>
            <a:ext cx="7999758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Direct Memory Access Structure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1" name="Google Shape;411;p31"/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OPERATING SYSTEMS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12" name="Google Shape;412;p31"/>
          <p:cNvCxnSpPr/>
          <p:nvPr/>
        </p:nvCxnSpPr>
        <p:spPr>
          <a:xfrm>
            <a:off x="-8308" y="1316458"/>
            <a:ext cx="8300052" cy="0"/>
          </a:xfrm>
          <a:prstGeom prst="straightConnector1">
            <a:avLst/>
          </a:prstGeom>
          <a:noFill/>
          <a:ln w="38100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413" name="Google Shape;413;p31"/>
          <p:cNvSpPr txBox="1"/>
          <p:nvPr/>
        </p:nvSpPr>
        <p:spPr>
          <a:xfrm>
            <a:off x="107982" y="1615594"/>
            <a:ext cx="6228272" cy="47255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2160"/>
              <a:buFont typeface="Arial"/>
              <a:buChar char="•"/>
            </a:pPr>
            <a:r>
              <a:rPr lang="en-US" sz="24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Used for high-speed I/O devices able to transmit information at close to memory speeds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50000"/>
              </a:lnSpc>
              <a:spcBef>
                <a:spcPts val="840"/>
              </a:spcBef>
              <a:spcAft>
                <a:spcPts val="0"/>
              </a:spcAft>
              <a:buClr>
                <a:srgbClr val="993300"/>
              </a:buClr>
              <a:buSzPts val="2160"/>
              <a:buFont typeface="Arial"/>
              <a:buChar char="•"/>
            </a:pPr>
            <a:r>
              <a:rPr lang="en-US" sz="24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Device controller transfers blocks of data from buffer storage directly to main memory without CPU intervention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50000"/>
              </a:lnSpc>
              <a:spcBef>
                <a:spcPts val="840"/>
              </a:spcBef>
              <a:spcAft>
                <a:spcPts val="0"/>
              </a:spcAft>
              <a:buClr>
                <a:srgbClr val="993300"/>
              </a:buClr>
              <a:buSzPts val="2160"/>
              <a:buFont typeface="Arial"/>
              <a:buChar char="•"/>
            </a:pPr>
            <a:r>
              <a:rPr lang="en-US" sz="24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Only one interrupt is generated per block, rather than the one interrupt per byte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14" name="Google Shape;414;p31" descr="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64135" y="2066340"/>
            <a:ext cx="5247965" cy="2977671"/>
          </a:xfrm>
          <a:prstGeom prst="rect">
            <a:avLst/>
          </a:prstGeom>
          <a:noFill/>
          <a:ln>
            <a:noFill/>
          </a:ln>
        </p:spPr>
      </p:pic>
      <p:pic>
        <p:nvPicPr>
          <p:cNvPr id="415" name="Google Shape;415;p3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511225" y="-12"/>
            <a:ext cx="1066900" cy="19754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20" name="Google Shape;420;p32"/>
          <p:cNvCxnSpPr/>
          <p:nvPr/>
        </p:nvCxnSpPr>
        <p:spPr>
          <a:xfrm rot="10800000" flipH="1">
            <a:off x="5448168" y="2887307"/>
            <a:ext cx="4581449" cy="1"/>
          </a:xfrm>
          <a:prstGeom prst="straightConnector1">
            <a:avLst/>
          </a:prstGeom>
          <a:noFill/>
          <a:ln w="38100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421" name="Google Shape;421;p32"/>
          <p:cNvSpPr/>
          <p:nvPr/>
        </p:nvSpPr>
        <p:spPr>
          <a:xfrm>
            <a:off x="5460537" y="4049738"/>
            <a:ext cx="749721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anithak</a:t>
            </a:r>
            <a:r>
              <a:rPr lang="en-US" sz="2400" b="1" i="0" u="none" strike="noStrike" cap="none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@pes.edu</a:t>
            </a:r>
            <a:endParaRPr sz="24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22" name="Google Shape;422;p32"/>
          <p:cNvGrpSpPr/>
          <p:nvPr/>
        </p:nvGrpSpPr>
        <p:grpSpPr>
          <a:xfrm>
            <a:off x="313844" y="349466"/>
            <a:ext cx="11518407" cy="6218388"/>
            <a:chOff x="313844" y="349466"/>
            <a:chExt cx="11518407" cy="6218388"/>
          </a:xfrm>
        </p:grpSpPr>
        <p:sp>
          <p:nvSpPr>
            <p:cNvPr id="423" name="Google Shape;423;p32"/>
            <p:cNvSpPr/>
            <p:nvPr/>
          </p:nvSpPr>
          <p:spPr>
            <a:xfrm>
              <a:off x="11786532" y="360726"/>
              <a:ext cx="45719" cy="1066895"/>
            </a:xfrm>
            <a:prstGeom prst="rect">
              <a:avLst/>
            </a:prstGeom>
            <a:solidFill>
              <a:srgbClr val="C55A1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4" name="Google Shape;424;p32"/>
            <p:cNvSpPr/>
            <p:nvPr/>
          </p:nvSpPr>
          <p:spPr>
            <a:xfrm rot="5400000">
              <a:off x="11275944" y="-161122"/>
              <a:ext cx="45719" cy="1066895"/>
            </a:xfrm>
            <a:prstGeom prst="rect">
              <a:avLst/>
            </a:prstGeom>
            <a:solidFill>
              <a:srgbClr val="C55A1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5" name="Google Shape;425;p32"/>
            <p:cNvSpPr/>
            <p:nvPr/>
          </p:nvSpPr>
          <p:spPr>
            <a:xfrm rot="5400000">
              <a:off x="824432" y="6011547"/>
              <a:ext cx="45719" cy="1066895"/>
            </a:xfrm>
            <a:prstGeom prst="rect">
              <a:avLst/>
            </a:prstGeom>
            <a:solidFill>
              <a:srgbClr val="C55A1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6" name="Google Shape;426;p32"/>
            <p:cNvSpPr/>
            <p:nvPr/>
          </p:nvSpPr>
          <p:spPr>
            <a:xfrm rot="10800000">
              <a:off x="313844" y="5489699"/>
              <a:ext cx="45719" cy="1066895"/>
            </a:xfrm>
            <a:prstGeom prst="rect">
              <a:avLst/>
            </a:prstGeom>
            <a:solidFill>
              <a:srgbClr val="C55A1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27" name="Google Shape;427;p32"/>
          <p:cNvSpPr/>
          <p:nvPr/>
        </p:nvSpPr>
        <p:spPr>
          <a:xfrm>
            <a:off x="5448168" y="2049518"/>
            <a:ext cx="4603806" cy="665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1" i="0" u="none" strike="noStrike" cap="none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THANK YOU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8" name="Google Shape;428;p32"/>
          <p:cNvSpPr/>
          <p:nvPr/>
        </p:nvSpPr>
        <p:spPr>
          <a:xfrm>
            <a:off x="5448168" y="3128242"/>
            <a:ext cx="749721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Dr. Anitha K</a:t>
            </a:r>
            <a:endParaRPr sz="24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32"/>
          <p:cNvSpPr/>
          <p:nvPr/>
        </p:nvSpPr>
        <p:spPr>
          <a:xfrm>
            <a:off x="5448168" y="3525847"/>
            <a:ext cx="749721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Department of Computer 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Science and 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Engineering</a:t>
            </a:r>
            <a:endParaRPr sz="2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30" name="Google Shape;430;p3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814375" y="1614400"/>
            <a:ext cx="1884525" cy="3489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1296</TotalTime>
  <Words>2752</Words>
  <Application>Microsoft Office PowerPoint</Application>
  <PresentationFormat>Widescreen</PresentationFormat>
  <Paragraphs>330</Paragraphs>
  <Slides>37</Slides>
  <Notes>37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6" baseType="lpstr">
      <vt:lpstr>Helvetica Neue</vt:lpstr>
      <vt:lpstr>Palatino</vt:lpstr>
      <vt:lpstr>Open Sans</vt:lpstr>
      <vt:lpstr>Arial</vt:lpstr>
      <vt:lpstr>Courier New</vt:lpstr>
      <vt:lpstr>Times New Roman</vt:lpstr>
      <vt:lpstr>Calibri</vt:lpstr>
      <vt:lpstr>Arimo</vt:lpstr>
      <vt:lpstr>Office Theme</vt:lpstr>
      <vt:lpstr>PowerPoint Presentation</vt:lpstr>
      <vt:lpstr>PowerPoint Presentation</vt:lpstr>
      <vt:lpstr>PowerPoint Presentation</vt:lpstr>
      <vt:lpstr>Course Objectives:</vt:lpstr>
      <vt:lpstr>Course Outline</vt:lpstr>
      <vt:lpstr>Course Outline</vt:lpstr>
      <vt:lpstr>Course Outcomes</vt:lpstr>
      <vt:lpstr>Textbooks</vt:lpstr>
      <vt:lpstr>Course Evaluation Policy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Krishna Venkataram</dc:creator>
  <cp:lastModifiedBy>Anitha Krishna</cp:lastModifiedBy>
  <cp:revision>48</cp:revision>
  <dcterms:created xsi:type="dcterms:W3CDTF">2020-06-03T14:19:11Z</dcterms:created>
  <dcterms:modified xsi:type="dcterms:W3CDTF">2026-08-03T08:56:27Z</dcterms:modified>
</cp:coreProperties>
</file>